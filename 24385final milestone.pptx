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notesMasterIdLst>
    <p:notesMasterId r:id="rId16"/>
  </p:notesMasterIdLst>
  <p:sldIdLst>
    <p:sldId id="256" r:id="rId2"/>
    <p:sldId id="257" r:id="rId3"/>
    <p:sldId id="258" r:id="rId4"/>
    <p:sldId id="259" r:id="rId5"/>
    <p:sldId id="260" r:id="rId6"/>
    <p:sldId id="261" r:id="rId7"/>
    <p:sldId id="262" r:id="rId8"/>
    <p:sldId id="263" r:id="rId9"/>
    <p:sldId id="264" r:id="rId10"/>
    <p:sldId id="269" r:id="rId11"/>
    <p:sldId id="267" r:id="rId12"/>
    <p:sldId id="268" r:id="rId13"/>
    <p:sldId id="270" r:id="rId14"/>
    <p:sldId id="265" r:id="rId15"/>
  </p:sldIdLst>
  <p:sldSz cx="18288000" cy="10287000"/>
  <p:notesSz cx="6858000" cy="9144000"/>
  <p:embeddedFontLst>
    <p:embeddedFont>
      <p:font typeface="Bookman Old Style" panose="02050604050505020204" pitchFamily="18" charset="0"/>
      <p:regular r:id="rId17"/>
      <p:bold r:id="rId18"/>
      <p:italic r:id="rId19"/>
      <p:boldItalic r:id="rId20"/>
    </p:embeddedFont>
    <p:embeddedFont>
      <p:font typeface="Cambria" panose="02040503050406030204" pitchFamily="18" charset="0"/>
      <p:regular r:id="rId21"/>
      <p:bold r:id="rId22"/>
      <p:italic r:id="rId23"/>
      <p:boldItalic r:id="rId24"/>
    </p:embeddedFont>
    <p:embeddedFont>
      <p:font typeface="Gotham" panose="020B0604020202020204" charset="0"/>
      <p:regular r:id="rId25"/>
    </p:embeddedFont>
    <p:embeddedFont>
      <p:font typeface="Gotham Bold Italics" panose="020B0604020202020204" charset="0"/>
      <p:regular r:id="rId26"/>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33CC"/>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72" autoAdjust="0"/>
    <p:restoredTop sz="94622" autoAdjust="0"/>
  </p:normalViewPr>
  <p:slideViewPr>
    <p:cSldViewPr>
      <p:cViewPr varScale="1">
        <p:scale>
          <a:sx n="55" d="100"/>
          <a:sy n="55" d="100"/>
        </p:scale>
        <p:origin x="686" y="48"/>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font" Target="fonts/font2.fntdata"/><Relationship Id="rId26" Type="http://schemas.openxmlformats.org/officeDocument/2006/relationships/font" Target="fonts/font10.fntdata"/><Relationship Id="rId3" Type="http://schemas.openxmlformats.org/officeDocument/2006/relationships/slide" Target="slides/slide2.xml"/><Relationship Id="rId21" Type="http://schemas.openxmlformats.org/officeDocument/2006/relationships/font" Target="fonts/font5.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font" Target="fonts/font1.fntdata"/><Relationship Id="rId25" Type="http://schemas.openxmlformats.org/officeDocument/2006/relationships/font" Target="fonts/font9.fntdata"/><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font" Target="fonts/font4.fntdata"/><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8.fntdata"/><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7.fntdata"/><Relationship Id="rId28"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font" Target="fonts/font3.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6.fntdata"/><Relationship Id="rId27" Type="http://schemas.openxmlformats.org/officeDocument/2006/relationships/presProps" Target="presProps.xml"/><Relationship Id="rId30"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0989263-73D8-403B-AA58-8344C6D61D2C}" type="datetimeFigureOut">
              <a:rPr lang="en-IN" smtClean="0"/>
              <a:t>06-04-2026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C808DE3-BE4C-4906-9A49-F7233732DA0B}" type="slidenum">
              <a:rPr lang="en-IN" smtClean="0"/>
              <a:t>‹#›</a:t>
            </a:fld>
            <a:endParaRPr lang="en-IN"/>
          </a:p>
        </p:txBody>
      </p:sp>
    </p:spTree>
    <p:extLst>
      <p:ext uri="{BB962C8B-B14F-4D97-AF65-F5344CB8AC3E}">
        <p14:creationId xmlns:p14="http://schemas.microsoft.com/office/powerpoint/2010/main" val="168890624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DC808DE3-BE4C-4906-9A49-F7233732DA0B}" type="slidenum">
              <a:rPr lang="en-IN" smtClean="0"/>
              <a:t>13</a:t>
            </a:fld>
            <a:endParaRPr lang="en-IN"/>
          </a:p>
        </p:txBody>
      </p:sp>
    </p:spTree>
    <p:extLst>
      <p:ext uri="{BB962C8B-B14F-4D97-AF65-F5344CB8AC3E}">
        <p14:creationId xmlns:p14="http://schemas.microsoft.com/office/powerpoint/2010/main" val="88860804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4/6/2026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4/6/2026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4/6/2026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4/6/2026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4/6/2026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4/6/2026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4/6/2026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4/6/2026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4/6/2026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4/6/2026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4/6/2026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4/6/2026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sv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2.sv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2.svg"/><Relationship Id="rId1" Type="http://schemas.openxmlformats.org/officeDocument/2006/relationships/slideLayout" Target="../slideLayouts/slideLayout9.xml"/></Relationships>
</file>

<file path=ppt/slides/_rels/slide1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2.svg"/><Relationship Id="rId1" Type="http://schemas.openxmlformats.org/officeDocument/2006/relationships/slideLayout" Target="../slideLayouts/slideLayout9.xml"/><Relationship Id="rId4" Type="http://schemas.openxmlformats.org/officeDocument/2006/relationships/image" Target="../media/image7.png"/></Relationships>
</file>

<file path=ppt/slides/_rels/slide1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2.svg"/><Relationship Id="rId1" Type="http://schemas.openxmlformats.org/officeDocument/2006/relationships/slideLayout" Target="../slideLayouts/slideLayout7.xml"/><Relationship Id="rId4" Type="http://schemas.openxmlformats.org/officeDocument/2006/relationships/image" Target="../media/image9.png"/></Relationships>
</file>

<file path=ppt/slides/_rels/slide13.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grpSp>
        <p:nvGrpSpPr>
          <p:cNvPr id="10" name="Group 10"/>
          <p:cNvGrpSpPr/>
          <p:nvPr/>
        </p:nvGrpSpPr>
        <p:grpSpPr>
          <a:xfrm>
            <a:off x="11762088" y="-9632634"/>
            <a:ext cx="10994424" cy="10994424"/>
            <a:chOff x="0" y="0"/>
            <a:chExt cx="812800" cy="812800"/>
          </a:xfrm>
        </p:grpSpPr>
        <p:sp>
          <p:nvSpPr>
            <p:cNvPr id="11" name="Freeform 11"/>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514350" cap="sq">
              <a:solidFill>
                <a:srgbClr val="FD6220">
                  <a:alpha val="11765"/>
                </a:srgbClr>
              </a:solidFill>
              <a:prstDash val="solid"/>
              <a:miter/>
            </a:ln>
          </p:spPr>
        </p:sp>
        <p:sp>
          <p:nvSpPr>
            <p:cNvPr id="12" name="TextBox 12"/>
            <p:cNvSpPr txBox="1"/>
            <p:nvPr/>
          </p:nvSpPr>
          <p:spPr>
            <a:xfrm>
              <a:off x="76200" y="47625"/>
              <a:ext cx="660400" cy="688975"/>
            </a:xfrm>
            <a:prstGeom prst="rect">
              <a:avLst/>
            </a:prstGeom>
          </p:spPr>
          <p:txBody>
            <a:bodyPr lIns="50800" tIns="50800" rIns="50800" bIns="50800" rtlCol="0" anchor="ctr"/>
            <a:lstStyle/>
            <a:p>
              <a:pPr algn="ctr">
                <a:lnSpc>
                  <a:spcPts val="2659"/>
                </a:lnSpc>
              </a:pPr>
              <a:endParaRPr/>
            </a:p>
          </p:txBody>
        </p:sp>
      </p:grpSp>
      <p:grpSp>
        <p:nvGrpSpPr>
          <p:cNvPr id="19" name="Group 19"/>
          <p:cNvGrpSpPr/>
          <p:nvPr/>
        </p:nvGrpSpPr>
        <p:grpSpPr>
          <a:xfrm>
            <a:off x="-9965724" y="-1383136"/>
            <a:ext cx="10994424" cy="10994424"/>
            <a:chOff x="0" y="0"/>
            <a:chExt cx="812800" cy="812800"/>
          </a:xfrm>
        </p:grpSpPr>
        <p:sp>
          <p:nvSpPr>
            <p:cNvPr id="20" name="Freeform 20"/>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514350" cap="sq">
              <a:solidFill>
                <a:srgbClr val="FD6220">
                  <a:alpha val="11765"/>
                </a:srgbClr>
              </a:solidFill>
              <a:prstDash val="solid"/>
              <a:miter/>
            </a:ln>
          </p:spPr>
        </p:sp>
        <p:sp>
          <p:nvSpPr>
            <p:cNvPr id="21" name="TextBox 21"/>
            <p:cNvSpPr txBox="1"/>
            <p:nvPr/>
          </p:nvSpPr>
          <p:spPr>
            <a:xfrm>
              <a:off x="76200" y="47625"/>
              <a:ext cx="660400" cy="688975"/>
            </a:xfrm>
            <a:prstGeom prst="rect">
              <a:avLst/>
            </a:prstGeom>
          </p:spPr>
          <p:txBody>
            <a:bodyPr lIns="50800" tIns="50800" rIns="50800" bIns="50800" rtlCol="0" anchor="ctr"/>
            <a:lstStyle/>
            <a:p>
              <a:pPr algn="ctr">
                <a:lnSpc>
                  <a:spcPts val="2659"/>
                </a:lnSpc>
              </a:pPr>
              <a:endParaRPr/>
            </a:p>
          </p:txBody>
        </p:sp>
      </p:grpSp>
      <p:pic>
        <p:nvPicPr>
          <p:cNvPr id="23" name="Picture 22">
            <a:extLst>
              <a:ext uri="{FF2B5EF4-FFF2-40B4-BE49-F238E27FC236}">
                <a16:creationId xmlns:a16="http://schemas.microsoft.com/office/drawing/2014/main" id="{1194AAA3-5CF4-E695-04C9-0894FFF6F1F1}"/>
              </a:ext>
            </a:extLst>
          </p:cNvPr>
          <p:cNvPicPr>
            <a:picLocks noChangeAspect="1"/>
          </p:cNvPicPr>
          <p:nvPr/>
        </p:nvPicPr>
        <p:blipFill>
          <a:blip r:embed="rId2"/>
          <a:stretch>
            <a:fillRect/>
          </a:stretch>
        </p:blipFill>
        <p:spPr>
          <a:xfrm>
            <a:off x="6610443" y="196689"/>
            <a:ext cx="4752247" cy="1360611"/>
          </a:xfrm>
          <a:prstGeom prst="rect">
            <a:avLst/>
          </a:prstGeom>
        </p:spPr>
      </p:pic>
      <p:sp>
        <p:nvSpPr>
          <p:cNvPr id="24" name="TextBox 23">
            <a:extLst>
              <a:ext uri="{FF2B5EF4-FFF2-40B4-BE49-F238E27FC236}">
                <a16:creationId xmlns:a16="http://schemas.microsoft.com/office/drawing/2014/main" id="{BB0EB85C-D9CE-08DC-1131-77C9DD1A002D}"/>
              </a:ext>
            </a:extLst>
          </p:cNvPr>
          <p:cNvSpPr txBox="1"/>
          <p:nvPr/>
        </p:nvSpPr>
        <p:spPr>
          <a:xfrm>
            <a:off x="1360002" y="1608482"/>
            <a:ext cx="15925800" cy="1631216"/>
          </a:xfrm>
          <a:prstGeom prst="rect">
            <a:avLst/>
          </a:prstGeom>
          <a:noFill/>
        </p:spPr>
        <p:txBody>
          <a:bodyPr wrap="square" rtlCol="0">
            <a:spAutoFit/>
          </a:bodyPr>
          <a:lstStyle/>
          <a:p>
            <a:pPr algn="ctr"/>
            <a:r>
              <a:rPr lang="en-US" sz="3200" b="1" dirty="0">
                <a:latin typeface="Cambria" panose="02040503050406030204" pitchFamily="18" charset="0"/>
                <a:ea typeface="Cambria" panose="02040503050406030204" pitchFamily="18" charset="0"/>
              </a:rPr>
              <a:t>Vel Tech Rangarajan Dr. Sagunthala R&amp;D Institute of Science and Technology</a:t>
            </a:r>
          </a:p>
          <a:p>
            <a:pPr algn="ctr"/>
            <a:r>
              <a:rPr lang="en-US" sz="3600" b="1" dirty="0">
                <a:latin typeface="Cambria" panose="02040503050406030204" pitchFamily="18" charset="0"/>
                <a:ea typeface="Cambria" panose="02040503050406030204" pitchFamily="18" charset="0"/>
              </a:rPr>
              <a:t>School of Computing </a:t>
            </a:r>
          </a:p>
          <a:p>
            <a:pPr algn="ctr"/>
            <a:r>
              <a:rPr lang="en-US" sz="3200" b="1" dirty="0">
                <a:latin typeface="Cambria" panose="02040503050406030204" pitchFamily="18" charset="0"/>
                <a:ea typeface="Cambria" panose="02040503050406030204" pitchFamily="18" charset="0"/>
              </a:rPr>
              <a:t>Department of Computer Science and Engineering</a:t>
            </a:r>
            <a:endParaRPr lang="en-IN" sz="3200" b="1" dirty="0">
              <a:latin typeface="Cambria" panose="02040503050406030204" pitchFamily="18" charset="0"/>
              <a:ea typeface="Cambria" panose="02040503050406030204" pitchFamily="18" charset="0"/>
            </a:endParaRPr>
          </a:p>
        </p:txBody>
      </p:sp>
      <p:sp>
        <p:nvSpPr>
          <p:cNvPr id="26" name="TextBox 25">
            <a:extLst>
              <a:ext uri="{FF2B5EF4-FFF2-40B4-BE49-F238E27FC236}">
                <a16:creationId xmlns:a16="http://schemas.microsoft.com/office/drawing/2014/main" id="{55785AF5-58C8-2624-E1FD-4723B0683DE6}"/>
              </a:ext>
            </a:extLst>
          </p:cNvPr>
          <p:cNvSpPr txBox="1"/>
          <p:nvPr/>
        </p:nvSpPr>
        <p:spPr>
          <a:xfrm>
            <a:off x="1692835" y="3272357"/>
            <a:ext cx="15260135" cy="523220"/>
          </a:xfrm>
          <a:prstGeom prst="rect">
            <a:avLst/>
          </a:prstGeom>
          <a:noFill/>
        </p:spPr>
        <p:txBody>
          <a:bodyPr wrap="square">
            <a:spAutoFit/>
          </a:bodyPr>
          <a:lstStyle/>
          <a:p>
            <a:pPr algn="ctr"/>
            <a:r>
              <a:rPr lang="en-US" sz="2800" b="1" dirty="0">
                <a:solidFill>
                  <a:srgbClr val="0033CC"/>
                </a:solidFill>
                <a:latin typeface="Bookman Old Style" panose="02050604050505020204" pitchFamily="18" charset="0"/>
              </a:rPr>
              <a:t>10211CS224 / FULL STACK APPLICATION DEVELOPMENT (JAVA)</a:t>
            </a:r>
            <a:endParaRPr lang="en-IN" sz="2800" b="1" dirty="0">
              <a:solidFill>
                <a:srgbClr val="0033CC"/>
              </a:solidFill>
              <a:latin typeface="Bookman Old Style" panose="02050604050505020204" pitchFamily="18" charset="0"/>
            </a:endParaRPr>
          </a:p>
        </p:txBody>
      </p:sp>
      <p:sp>
        <p:nvSpPr>
          <p:cNvPr id="27" name="TextBox 26">
            <a:extLst>
              <a:ext uri="{FF2B5EF4-FFF2-40B4-BE49-F238E27FC236}">
                <a16:creationId xmlns:a16="http://schemas.microsoft.com/office/drawing/2014/main" id="{AC6C53BF-3850-6683-E07F-D595EC8B02B2}"/>
              </a:ext>
            </a:extLst>
          </p:cNvPr>
          <p:cNvSpPr txBox="1"/>
          <p:nvPr/>
        </p:nvSpPr>
        <p:spPr>
          <a:xfrm>
            <a:off x="3727757" y="3897940"/>
            <a:ext cx="11190289" cy="1754326"/>
          </a:xfrm>
          <a:prstGeom prst="rect">
            <a:avLst/>
          </a:prstGeom>
          <a:noFill/>
        </p:spPr>
        <p:txBody>
          <a:bodyPr wrap="square" rtlCol="0">
            <a:spAutoFit/>
          </a:bodyPr>
          <a:lstStyle/>
          <a:p>
            <a:pPr algn="ctr"/>
            <a:r>
              <a:rPr lang="en-IN" sz="3600" b="1" dirty="0">
                <a:solidFill>
                  <a:srgbClr val="C00000"/>
                </a:solidFill>
                <a:latin typeface="Arial" panose="020B0604020202020204" pitchFamily="34" charset="0"/>
                <a:cs typeface="Arial" panose="020B0604020202020204" pitchFamily="34" charset="0"/>
              </a:rPr>
              <a:t>PROJECT REVIEW : MILESTONE PROJECT – 1</a:t>
            </a:r>
          </a:p>
          <a:p>
            <a:pPr algn="ctr"/>
            <a:endParaRPr lang="en-IN" sz="3600" b="1" dirty="0">
              <a:solidFill>
                <a:srgbClr val="C00000"/>
              </a:solidFill>
              <a:latin typeface="Arial" panose="020B0604020202020204" pitchFamily="34" charset="0"/>
              <a:cs typeface="Arial" panose="020B0604020202020204" pitchFamily="34" charset="0"/>
            </a:endParaRPr>
          </a:p>
          <a:p>
            <a:pPr algn="ctr"/>
            <a:r>
              <a:rPr lang="en-IN" sz="3600" b="1" dirty="0">
                <a:solidFill>
                  <a:srgbClr val="C00000"/>
                </a:solidFill>
                <a:latin typeface="Arial" panose="020B0604020202020204" pitchFamily="34" charset="0"/>
                <a:cs typeface="Arial" panose="020B0604020202020204" pitchFamily="34" charset="0"/>
              </a:rPr>
              <a:t>Date: 23-03-2026</a:t>
            </a:r>
          </a:p>
        </p:txBody>
      </p:sp>
      <p:sp>
        <p:nvSpPr>
          <p:cNvPr id="13" name="TextBox 12">
            <a:extLst>
              <a:ext uri="{FF2B5EF4-FFF2-40B4-BE49-F238E27FC236}">
                <a16:creationId xmlns:a16="http://schemas.microsoft.com/office/drawing/2014/main" id="{7FFE0DA2-4723-7C13-5FD7-FC99B0394DDD}"/>
              </a:ext>
            </a:extLst>
          </p:cNvPr>
          <p:cNvSpPr txBox="1"/>
          <p:nvPr/>
        </p:nvSpPr>
        <p:spPr>
          <a:xfrm>
            <a:off x="1007918" y="6019895"/>
            <a:ext cx="15784162" cy="584775"/>
          </a:xfrm>
          <a:prstGeom prst="rect">
            <a:avLst/>
          </a:prstGeom>
          <a:noFill/>
        </p:spPr>
        <p:txBody>
          <a:bodyPr wrap="square" rtlCol="0">
            <a:spAutoFit/>
          </a:bodyPr>
          <a:lstStyle/>
          <a:p>
            <a:pPr algn="ctr"/>
            <a:r>
              <a:rPr lang="en-IN" sz="3200" b="1" dirty="0"/>
              <a:t>Responsive E-Commerce Interface with State-Persistent Cart</a:t>
            </a:r>
            <a:endParaRPr lang="en-IN" sz="3200" b="1" dirty="0">
              <a:solidFill>
                <a:srgbClr val="0033CC"/>
              </a:solidFill>
              <a:latin typeface="Times New Roman" panose="02020603050405020304" pitchFamily="18" charset="0"/>
              <a:cs typeface="Times New Roman" panose="02020603050405020304" pitchFamily="18" charset="0"/>
            </a:endParaRPr>
          </a:p>
        </p:txBody>
      </p:sp>
      <p:sp>
        <p:nvSpPr>
          <p:cNvPr id="14" name="TextBox 13">
            <a:extLst>
              <a:ext uri="{FF2B5EF4-FFF2-40B4-BE49-F238E27FC236}">
                <a16:creationId xmlns:a16="http://schemas.microsoft.com/office/drawing/2014/main" id="{EA8EEF4A-EB43-B7D9-87FC-7C7D752BCA78}"/>
              </a:ext>
            </a:extLst>
          </p:cNvPr>
          <p:cNvSpPr txBox="1"/>
          <p:nvPr/>
        </p:nvSpPr>
        <p:spPr>
          <a:xfrm>
            <a:off x="893870" y="7800539"/>
            <a:ext cx="9067800" cy="1391663"/>
          </a:xfrm>
          <a:prstGeom prst="rect">
            <a:avLst/>
          </a:prstGeom>
          <a:noFill/>
        </p:spPr>
        <p:txBody>
          <a:bodyPr wrap="square" rtlCol="0">
            <a:spAutoFit/>
          </a:bodyPr>
          <a:lstStyle/>
          <a:p>
            <a:pPr>
              <a:lnSpc>
                <a:spcPct val="150000"/>
              </a:lnSpc>
            </a:pPr>
            <a:r>
              <a:rPr lang="en-US" sz="3000" b="1" dirty="0">
                <a:latin typeface="Cambria" panose="02040503050406030204" pitchFamily="18" charset="0"/>
                <a:ea typeface="Cambria" panose="02040503050406030204" pitchFamily="18" charset="0"/>
              </a:rPr>
              <a:t>Presented By:</a:t>
            </a:r>
          </a:p>
          <a:p>
            <a:pPr>
              <a:lnSpc>
                <a:spcPct val="150000"/>
              </a:lnSpc>
            </a:pPr>
            <a:r>
              <a:rPr lang="en-US" sz="3000" dirty="0">
                <a:latin typeface="Cambria" panose="02040503050406030204" pitchFamily="18" charset="0"/>
                <a:ea typeface="Cambria" panose="02040503050406030204" pitchFamily="18" charset="0"/>
              </a:rPr>
              <a:t>NEELAMPALLI VARUN– VTU24385– 23UECS0400</a:t>
            </a:r>
            <a:endParaRPr lang="en-IN" sz="3000" dirty="0">
              <a:latin typeface="Cambria" panose="02040503050406030204" pitchFamily="18" charset="0"/>
              <a:ea typeface="Cambria" panose="02040503050406030204" pitchFamily="18" charset="0"/>
            </a:endParaRPr>
          </a:p>
        </p:txBody>
      </p:sp>
      <p:sp>
        <p:nvSpPr>
          <p:cNvPr id="15" name="TextBox 14">
            <a:extLst>
              <a:ext uri="{FF2B5EF4-FFF2-40B4-BE49-F238E27FC236}">
                <a16:creationId xmlns:a16="http://schemas.microsoft.com/office/drawing/2014/main" id="{6FF32D1A-2F9C-AC53-CCBD-ABF748DF236F}"/>
              </a:ext>
            </a:extLst>
          </p:cNvPr>
          <p:cNvSpPr txBox="1"/>
          <p:nvPr/>
        </p:nvSpPr>
        <p:spPr>
          <a:xfrm>
            <a:off x="10945035" y="7818586"/>
            <a:ext cx="6914603" cy="1391663"/>
          </a:xfrm>
          <a:prstGeom prst="rect">
            <a:avLst/>
          </a:prstGeom>
          <a:noFill/>
        </p:spPr>
        <p:txBody>
          <a:bodyPr wrap="square" rtlCol="0">
            <a:spAutoFit/>
          </a:bodyPr>
          <a:lstStyle/>
          <a:p>
            <a:pPr>
              <a:lnSpc>
                <a:spcPct val="150000"/>
              </a:lnSpc>
            </a:pPr>
            <a:r>
              <a:rPr lang="en-US" sz="3000" b="1" dirty="0">
                <a:latin typeface="Cambria" panose="02040503050406030204" pitchFamily="18" charset="0"/>
                <a:ea typeface="Cambria" panose="02040503050406030204" pitchFamily="18" charset="0"/>
              </a:rPr>
              <a:t>Courses Handling Faculty:</a:t>
            </a:r>
          </a:p>
          <a:p>
            <a:pPr>
              <a:lnSpc>
                <a:spcPct val="150000"/>
              </a:lnSpc>
            </a:pPr>
            <a:r>
              <a:rPr lang="en-US" sz="3000" dirty="0">
                <a:latin typeface="Cambria" panose="02040503050406030204" pitchFamily="18" charset="0"/>
                <a:ea typeface="Cambria" panose="02040503050406030204" pitchFamily="18" charset="0"/>
              </a:rPr>
              <a:t>Dr. KAVIARASAN. S</a:t>
            </a:r>
            <a:endParaRPr lang="en-IN" sz="3000" dirty="0">
              <a:latin typeface="Cambria" panose="02040503050406030204" pitchFamily="18" charset="0"/>
              <a:ea typeface="Cambria" panose="02040503050406030204" pitchFamily="18" charset="0"/>
            </a:endParaRPr>
          </a:p>
        </p:txBody>
      </p:sp>
      <p:sp>
        <p:nvSpPr>
          <p:cNvPr id="16" name="TextBox 15">
            <a:extLst>
              <a:ext uri="{FF2B5EF4-FFF2-40B4-BE49-F238E27FC236}">
                <a16:creationId xmlns:a16="http://schemas.microsoft.com/office/drawing/2014/main" id="{A7AA51DE-E8D7-A1B4-BC0D-B25C8A0C467A}"/>
              </a:ext>
            </a:extLst>
          </p:cNvPr>
          <p:cNvSpPr txBox="1"/>
          <p:nvPr/>
        </p:nvSpPr>
        <p:spPr>
          <a:xfrm>
            <a:off x="3581400" y="6866181"/>
            <a:ext cx="16419570" cy="400110"/>
          </a:xfrm>
          <a:prstGeom prst="rect">
            <a:avLst/>
          </a:prstGeom>
          <a:noFill/>
        </p:spPr>
        <p:txBody>
          <a:bodyPr wrap="square" rtlCol="0">
            <a:spAutoFit/>
          </a:bodyPr>
          <a:lstStyle/>
          <a:p>
            <a:r>
              <a:rPr lang="en-US" sz="2000" b="1" dirty="0">
                <a:latin typeface="Cambria" panose="02040503050406030204" pitchFamily="18" charset="0"/>
                <a:ea typeface="Cambria" panose="02040503050406030204" pitchFamily="18" charset="0"/>
              </a:rPr>
              <a:t>SDG: SDG 9 –</a:t>
            </a:r>
            <a:r>
              <a:rPr lang="en-US" sz="2000" b="1" dirty="0">
                <a:latin typeface="Cambria" panose="02040503050406030204" pitchFamily="18" charset="0"/>
                <a:ea typeface="Cambria" panose="02040503050406030204" pitchFamily="18" charset="0"/>
                <a:cs typeface="Times New Roman" panose="02020603050405020304" pitchFamily="18" charset="0"/>
              </a:rPr>
              <a:t>Industry, Innovation and Infrastructure</a:t>
            </a:r>
            <a:endParaRPr lang="en-IN" sz="2000" b="1" dirty="0">
              <a:latin typeface="Cambria" panose="02040503050406030204" pitchFamily="18" charset="0"/>
              <a:ea typeface="Cambria" panose="02040503050406030204" pitchFamily="18" charset="0"/>
              <a:cs typeface="Times New Roman" panose="02020603050405020304" pitchFamily="18"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sp>
        <p:nvSpPr>
          <p:cNvPr id="8" name="Freeform 8"/>
          <p:cNvSpPr/>
          <p:nvPr/>
        </p:nvSpPr>
        <p:spPr>
          <a:xfrm>
            <a:off x="16313420" y="910465"/>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a:extLst>
                <a:ext uri="{96DAC541-7B7A-43D3-8B79-37D633B846F1}">
                  <asvg:svgBlip xmlns:asvg="http://schemas.microsoft.com/office/drawing/2016/SVG/main" r:embed="rId2"/>
                </a:ext>
              </a:extLst>
            </a:blip>
            <a:stretch>
              <a:fillRect/>
            </a:stretch>
          </a:blipFill>
        </p:spPr>
      </p:sp>
      <p:grpSp>
        <p:nvGrpSpPr>
          <p:cNvPr id="9" name="Group 9"/>
          <p:cNvGrpSpPr/>
          <p:nvPr/>
        </p:nvGrpSpPr>
        <p:grpSpPr>
          <a:xfrm>
            <a:off x="706082" y="1952203"/>
            <a:ext cx="992463" cy="992463"/>
            <a:chOff x="0" y="0"/>
            <a:chExt cx="812800" cy="812800"/>
          </a:xfrm>
        </p:grpSpPr>
        <p:sp>
          <p:nvSpPr>
            <p:cNvPr id="10" name="Freeform 10"/>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sp>
        <p:sp>
          <p:nvSpPr>
            <p:cNvPr id="11" name="TextBox 11"/>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699">
                  <a:solidFill>
                    <a:srgbClr val="FFFEFE"/>
                  </a:solidFill>
                  <a:latin typeface="Gotham"/>
                  <a:ea typeface="Gotham"/>
                  <a:cs typeface="Gotham"/>
                  <a:sym typeface="Gotham"/>
                </a:rPr>
                <a:t>1</a:t>
              </a:r>
            </a:p>
          </p:txBody>
        </p:sp>
      </p:grpSp>
      <p:grpSp>
        <p:nvGrpSpPr>
          <p:cNvPr id="12" name="Group 12"/>
          <p:cNvGrpSpPr/>
          <p:nvPr/>
        </p:nvGrpSpPr>
        <p:grpSpPr>
          <a:xfrm>
            <a:off x="948235" y="4447339"/>
            <a:ext cx="508158" cy="543805"/>
            <a:chOff x="0" y="0"/>
            <a:chExt cx="812800" cy="869819"/>
          </a:xfrm>
        </p:grpSpPr>
        <p:sp>
          <p:nvSpPr>
            <p:cNvPr id="13" name="Freeform 13"/>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4" name="TextBox 14"/>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15" name="Group 15"/>
          <p:cNvGrpSpPr/>
          <p:nvPr/>
        </p:nvGrpSpPr>
        <p:grpSpPr>
          <a:xfrm>
            <a:off x="948235" y="3107362"/>
            <a:ext cx="508158" cy="543805"/>
            <a:chOff x="0" y="0"/>
            <a:chExt cx="812800" cy="869819"/>
          </a:xfrm>
        </p:grpSpPr>
        <p:sp>
          <p:nvSpPr>
            <p:cNvPr id="16" name="Freeform 16"/>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7" name="TextBox 17"/>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18" name="Group 18"/>
          <p:cNvGrpSpPr/>
          <p:nvPr/>
        </p:nvGrpSpPr>
        <p:grpSpPr>
          <a:xfrm>
            <a:off x="948235" y="5115753"/>
            <a:ext cx="508158" cy="543805"/>
            <a:chOff x="0" y="0"/>
            <a:chExt cx="812800" cy="869819"/>
          </a:xfrm>
        </p:grpSpPr>
        <p:sp>
          <p:nvSpPr>
            <p:cNvPr id="19" name="Freeform 19"/>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0" name="TextBox 20"/>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21" name="Group 21"/>
          <p:cNvGrpSpPr/>
          <p:nvPr/>
        </p:nvGrpSpPr>
        <p:grpSpPr>
          <a:xfrm>
            <a:off x="948235" y="3776486"/>
            <a:ext cx="508158" cy="543805"/>
            <a:chOff x="0" y="0"/>
            <a:chExt cx="812800" cy="869819"/>
          </a:xfrm>
        </p:grpSpPr>
        <p:sp>
          <p:nvSpPr>
            <p:cNvPr id="22" name="Freeform 22"/>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3" name="TextBox 23"/>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24" name="Group 24"/>
          <p:cNvGrpSpPr/>
          <p:nvPr/>
        </p:nvGrpSpPr>
        <p:grpSpPr>
          <a:xfrm>
            <a:off x="948235" y="6455730"/>
            <a:ext cx="508158" cy="543805"/>
            <a:chOff x="0" y="0"/>
            <a:chExt cx="812800" cy="869819"/>
          </a:xfrm>
        </p:grpSpPr>
        <p:sp>
          <p:nvSpPr>
            <p:cNvPr id="25" name="Freeform 25"/>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6" name="TextBox 26"/>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27" name="Group 27"/>
          <p:cNvGrpSpPr/>
          <p:nvPr/>
        </p:nvGrpSpPr>
        <p:grpSpPr>
          <a:xfrm>
            <a:off x="948235" y="5784877"/>
            <a:ext cx="508158" cy="543805"/>
            <a:chOff x="0" y="0"/>
            <a:chExt cx="812800" cy="869819"/>
          </a:xfrm>
        </p:grpSpPr>
        <p:sp>
          <p:nvSpPr>
            <p:cNvPr id="28" name="Freeform 28"/>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9" name="TextBox 29"/>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36" name="Group 36"/>
          <p:cNvGrpSpPr/>
          <p:nvPr/>
        </p:nvGrpSpPr>
        <p:grpSpPr>
          <a:xfrm>
            <a:off x="948235" y="7123361"/>
            <a:ext cx="508158" cy="543805"/>
            <a:chOff x="0" y="0"/>
            <a:chExt cx="812800" cy="869819"/>
          </a:xfrm>
        </p:grpSpPr>
        <p:sp>
          <p:nvSpPr>
            <p:cNvPr id="37" name="Freeform 37"/>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8" name="TextBox 38"/>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8</a:t>
              </a:r>
            </a:p>
          </p:txBody>
        </p:sp>
      </p:grpSp>
      <p:grpSp>
        <p:nvGrpSpPr>
          <p:cNvPr id="39" name="Group 39"/>
          <p:cNvGrpSpPr/>
          <p:nvPr/>
        </p:nvGrpSpPr>
        <p:grpSpPr>
          <a:xfrm>
            <a:off x="948235" y="7790991"/>
            <a:ext cx="508158" cy="543805"/>
            <a:chOff x="0" y="0"/>
            <a:chExt cx="812800" cy="869819"/>
          </a:xfrm>
        </p:grpSpPr>
        <p:sp>
          <p:nvSpPr>
            <p:cNvPr id="40" name="Freeform 40"/>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41" name="TextBox 41"/>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2" name="TextBox 1">
            <a:extLst>
              <a:ext uri="{FF2B5EF4-FFF2-40B4-BE49-F238E27FC236}">
                <a16:creationId xmlns:a16="http://schemas.microsoft.com/office/drawing/2014/main" id="{DE796552-E8BF-2718-F921-20F9BAE7EE98}"/>
              </a:ext>
            </a:extLst>
          </p:cNvPr>
          <p:cNvSpPr txBox="1"/>
          <p:nvPr/>
        </p:nvSpPr>
        <p:spPr>
          <a:xfrm>
            <a:off x="152400" y="342900"/>
            <a:ext cx="181356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INTRODUCTION</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3" name="TextBox 2">
            <a:extLst>
              <a:ext uri="{FF2B5EF4-FFF2-40B4-BE49-F238E27FC236}">
                <a16:creationId xmlns:a16="http://schemas.microsoft.com/office/drawing/2014/main" id="{837E9E58-77B6-079D-9D0D-E380CADAD23D}"/>
              </a:ext>
            </a:extLst>
          </p:cNvPr>
          <p:cNvSpPr txBox="1"/>
          <p:nvPr/>
        </p:nvSpPr>
        <p:spPr>
          <a:xfrm>
            <a:off x="2176975" y="1692807"/>
            <a:ext cx="15082325" cy="11295400"/>
          </a:xfrm>
          <a:prstGeom prst="rect">
            <a:avLst/>
          </a:prstGeom>
          <a:noFill/>
        </p:spPr>
        <p:txBody>
          <a:bodyPr wrap="square" rtlCol="0">
            <a:spAutoFit/>
          </a:bodyPr>
          <a:lstStyle/>
          <a:p>
            <a:endParaRPr lang="en-US" sz="2800" dirty="0"/>
          </a:p>
          <a:p>
            <a:pPr marL="457200" indent="-457200">
              <a:buFontTx/>
              <a:buChar char="-"/>
            </a:pPr>
            <a:r>
              <a:rPr lang="en-US" sz="2800" b="1" dirty="0"/>
              <a:t>Background of the problem</a:t>
            </a:r>
          </a:p>
          <a:p>
            <a:r>
              <a:rPr lang="en-US" sz="2800" dirty="0"/>
              <a:t>           Many websites are not mobile-friendly and lose cart data after refresh.</a:t>
            </a:r>
          </a:p>
          <a:p>
            <a:r>
              <a:rPr lang="en-US" sz="2800" dirty="0"/>
              <a:t>           Users expect smooth shopping experience like Amazon and Flipkart.</a:t>
            </a:r>
          </a:p>
          <a:p>
            <a:pPr marL="457200" indent="-457200">
              <a:buFontTx/>
              <a:buChar char="-"/>
            </a:pPr>
            <a:r>
              <a:rPr lang="en-US" sz="2800" b="1" dirty="0"/>
              <a:t>Why this project is important</a:t>
            </a:r>
          </a:p>
          <a:p>
            <a:r>
              <a:rPr lang="en-US" sz="2800" dirty="0"/>
              <a:t>          It improves user experience by making the website responsive and reliable.</a:t>
            </a:r>
            <a:br>
              <a:rPr lang="en-US" sz="2800" dirty="0"/>
            </a:br>
            <a:r>
              <a:rPr lang="en-US" sz="2800" dirty="0"/>
              <a:t>          It also helps us learn real-world web development concepts.</a:t>
            </a:r>
          </a:p>
          <a:p>
            <a:pPr marL="457200" indent="-457200">
              <a:buFontTx/>
              <a:buChar char="-"/>
            </a:pPr>
            <a:r>
              <a:rPr lang="en-US" sz="2800" b="1" dirty="0"/>
              <a:t>Real-world relevance</a:t>
            </a:r>
          </a:p>
          <a:p>
            <a:r>
              <a:rPr lang="en-US" sz="2800" dirty="0"/>
              <a:t>         Modern shopping websites like Myntra use responsive design and persistent carts.</a:t>
            </a:r>
            <a:br>
              <a:rPr lang="en-US" sz="2800" dirty="0"/>
            </a:br>
            <a:r>
              <a:rPr lang="en-US" sz="2800" dirty="0"/>
              <a:t>         This project works similar to real e-commerce platforms.</a:t>
            </a:r>
          </a:p>
          <a:p>
            <a:pPr marL="457200" indent="-457200">
              <a:buFontTx/>
              <a:buChar char="-"/>
            </a:pPr>
            <a:r>
              <a:rPr lang="en-US" sz="2800" b="1" dirty="0"/>
              <a:t>Brief overview of the system</a:t>
            </a:r>
          </a:p>
          <a:p>
            <a:r>
              <a:rPr lang="en-US" sz="2800" dirty="0"/>
              <a:t>        Users can view products, add items to cart, and update quantity easily.</a:t>
            </a:r>
            <a:br>
              <a:rPr lang="en-US" sz="2800" dirty="0"/>
            </a:br>
            <a:r>
              <a:rPr lang="en-US" sz="2800" dirty="0"/>
              <a:t>        The cart data is saved using Local Storage even after page refresh.</a:t>
            </a:r>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IN" sz="28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sp>
        <p:nvSpPr>
          <p:cNvPr id="10" name="Freeform 10"/>
          <p:cNvSpPr/>
          <p:nvPr/>
        </p:nvSpPr>
        <p:spPr>
          <a:xfrm>
            <a:off x="16313420" y="910465"/>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a:extLst>
                <a:ext uri="{96DAC541-7B7A-43D3-8B79-37D633B846F1}">
                  <asvg:svgBlip xmlns:asvg="http://schemas.microsoft.com/office/drawing/2016/SVG/main" r:embed="rId2"/>
                </a:ext>
              </a:extLst>
            </a:blip>
            <a:stretch>
              <a:fillRect/>
            </a:stretch>
          </a:blipFill>
        </p:spPr>
      </p:sp>
      <p:grpSp>
        <p:nvGrpSpPr>
          <p:cNvPr id="11" name="Group 11"/>
          <p:cNvGrpSpPr/>
          <p:nvPr/>
        </p:nvGrpSpPr>
        <p:grpSpPr>
          <a:xfrm>
            <a:off x="709357" y="2648112"/>
            <a:ext cx="992463" cy="992463"/>
            <a:chOff x="0" y="0"/>
            <a:chExt cx="812800" cy="812800"/>
          </a:xfrm>
        </p:grpSpPr>
        <p:sp>
          <p:nvSpPr>
            <p:cNvPr id="12" name="Freeform 12"/>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sp>
        <p:sp>
          <p:nvSpPr>
            <p:cNvPr id="13" name="TextBox 13"/>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699">
                  <a:solidFill>
                    <a:srgbClr val="FFFEFE"/>
                  </a:solidFill>
                  <a:latin typeface="Gotham"/>
                  <a:ea typeface="Gotham"/>
                  <a:cs typeface="Gotham"/>
                  <a:sym typeface="Gotham"/>
                </a:rPr>
                <a:t>2</a:t>
              </a:r>
            </a:p>
          </p:txBody>
        </p:sp>
      </p:grpSp>
      <p:grpSp>
        <p:nvGrpSpPr>
          <p:cNvPr id="14" name="Group 14"/>
          <p:cNvGrpSpPr/>
          <p:nvPr/>
        </p:nvGrpSpPr>
        <p:grpSpPr>
          <a:xfrm>
            <a:off x="951509" y="4428296"/>
            <a:ext cx="508158" cy="543805"/>
            <a:chOff x="0" y="0"/>
            <a:chExt cx="812800" cy="869819"/>
          </a:xfrm>
        </p:grpSpPr>
        <p:sp>
          <p:nvSpPr>
            <p:cNvPr id="15" name="Freeform 15"/>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6" name="TextBox 16"/>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17" name="Group 17"/>
          <p:cNvGrpSpPr/>
          <p:nvPr/>
        </p:nvGrpSpPr>
        <p:grpSpPr>
          <a:xfrm>
            <a:off x="951509" y="1982349"/>
            <a:ext cx="508158" cy="543805"/>
            <a:chOff x="0" y="0"/>
            <a:chExt cx="812800" cy="869819"/>
          </a:xfrm>
        </p:grpSpPr>
        <p:sp>
          <p:nvSpPr>
            <p:cNvPr id="18" name="Freeform 18"/>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9" name="TextBox 19"/>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20" name="Group 20"/>
          <p:cNvGrpSpPr/>
          <p:nvPr/>
        </p:nvGrpSpPr>
        <p:grpSpPr>
          <a:xfrm>
            <a:off x="951509" y="5094059"/>
            <a:ext cx="508158" cy="543805"/>
            <a:chOff x="0" y="0"/>
            <a:chExt cx="812800" cy="869819"/>
          </a:xfrm>
        </p:grpSpPr>
        <p:sp>
          <p:nvSpPr>
            <p:cNvPr id="21" name="Freeform 21"/>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2" name="TextBox 22"/>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23" name="Group 23"/>
          <p:cNvGrpSpPr/>
          <p:nvPr/>
        </p:nvGrpSpPr>
        <p:grpSpPr>
          <a:xfrm>
            <a:off x="951509" y="3762533"/>
            <a:ext cx="508158" cy="543805"/>
            <a:chOff x="0" y="0"/>
            <a:chExt cx="812800" cy="869819"/>
          </a:xfrm>
        </p:grpSpPr>
        <p:sp>
          <p:nvSpPr>
            <p:cNvPr id="24" name="Freeform 24"/>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5" name="TextBox 25"/>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26" name="Group 26"/>
          <p:cNvGrpSpPr/>
          <p:nvPr/>
        </p:nvGrpSpPr>
        <p:grpSpPr>
          <a:xfrm>
            <a:off x="951509" y="6425585"/>
            <a:ext cx="508158" cy="543805"/>
            <a:chOff x="0" y="0"/>
            <a:chExt cx="812800" cy="869819"/>
          </a:xfrm>
        </p:grpSpPr>
        <p:sp>
          <p:nvSpPr>
            <p:cNvPr id="27" name="Freeform 27"/>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8" name="TextBox 28"/>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29" name="Group 29"/>
          <p:cNvGrpSpPr/>
          <p:nvPr/>
        </p:nvGrpSpPr>
        <p:grpSpPr>
          <a:xfrm>
            <a:off x="951509" y="5759822"/>
            <a:ext cx="508158" cy="543805"/>
            <a:chOff x="0" y="0"/>
            <a:chExt cx="812800" cy="869819"/>
          </a:xfrm>
        </p:grpSpPr>
        <p:sp>
          <p:nvSpPr>
            <p:cNvPr id="30" name="Freeform 30"/>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1" name="TextBox 31"/>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36" name="Group 36"/>
          <p:cNvGrpSpPr/>
          <p:nvPr/>
        </p:nvGrpSpPr>
        <p:grpSpPr>
          <a:xfrm>
            <a:off x="951509" y="7093216"/>
            <a:ext cx="508158" cy="543805"/>
            <a:chOff x="0" y="0"/>
            <a:chExt cx="812800" cy="869819"/>
          </a:xfrm>
        </p:grpSpPr>
        <p:sp>
          <p:nvSpPr>
            <p:cNvPr id="37" name="Freeform 37"/>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8" name="TextBox 38"/>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8</a:t>
              </a:r>
            </a:p>
          </p:txBody>
        </p:sp>
      </p:grpSp>
      <p:grpSp>
        <p:nvGrpSpPr>
          <p:cNvPr id="39" name="Group 39"/>
          <p:cNvGrpSpPr/>
          <p:nvPr/>
        </p:nvGrpSpPr>
        <p:grpSpPr>
          <a:xfrm>
            <a:off x="951509" y="7760846"/>
            <a:ext cx="508158" cy="543805"/>
            <a:chOff x="0" y="0"/>
            <a:chExt cx="812800" cy="869819"/>
          </a:xfrm>
        </p:grpSpPr>
        <p:sp>
          <p:nvSpPr>
            <p:cNvPr id="40" name="Freeform 40"/>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41" name="TextBox 41"/>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47" name="TextBox 46">
            <a:extLst>
              <a:ext uri="{FF2B5EF4-FFF2-40B4-BE49-F238E27FC236}">
                <a16:creationId xmlns:a16="http://schemas.microsoft.com/office/drawing/2014/main" id="{A8A7B8E9-D90B-1CF8-14D3-8D2483CAFC58}"/>
              </a:ext>
            </a:extLst>
          </p:cNvPr>
          <p:cNvSpPr txBox="1"/>
          <p:nvPr/>
        </p:nvSpPr>
        <p:spPr>
          <a:xfrm>
            <a:off x="152400" y="342900"/>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PROBLEM STATEMENT</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48" name="TextBox 47">
            <a:extLst>
              <a:ext uri="{FF2B5EF4-FFF2-40B4-BE49-F238E27FC236}">
                <a16:creationId xmlns:a16="http://schemas.microsoft.com/office/drawing/2014/main" id="{BDE2941C-1504-53F9-99B2-48002CA9A345}"/>
              </a:ext>
            </a:extLst>
          </p:cNvPr>
          <p:cNvSpPr txBox="1"/>
          <p:nvPr/>
        </p:nvSpPr>
        <p:spPr>
          <a:xfrm>
            <a:off x="6038630" y="3485083"/>
            <a:ext cx="8860865" cy="6555641"/>
          </a:xfrm>
          <a:prstGeom prst="rect">
            <a:avLst/>
          </a:prstGeom>
          <a:noFill/>
        </p:spPr>
        <p:txBody>
          <a:bodyPr wrap="square" rtlCol="0">
            <a:spAutoFit/>
          </a:bodyPr>
          <a:lstStyle/>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IN" sz="2800" dirty="0"/>
          </a:p>
        </p:txBody>
      </p:sp>
      <p:sp>
        <p:nvSpPr>
          <p:cNvPr id="5" name="Rectangle 4">
            <a:extLst>
              <a:ext uri="{FF2B5EF4-FFF2-40B4-BE49-F238E27FC236}">
                <a16:creationId xmlns:a16="http://schemas.microsoft.com/office/drawing/2014/main" id="{8B9E87E4-FAE4-7486-0903-DB9EF34A7843}"/>
              </a:ext>
            </a:extLst>
          </p:cNvPr>
          <p:cNvSpPr>
            <a:spLocks noChangeArrowheads="1"/>
          </p:cNvSpPr>
          <p:nvPr/>
        </p:nvSpPr>
        <p:spPr bwMode="auto">
          <a:xfrm>
            <a:off x="2514600" y="2702755"/>
            <a:ext cx="11887199" cy="501675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just" defTabSz="914400" rtl="0" eaLnBrk="0" fontAlgn="base" latinLnBrk="0" hangingPunct="0">
              <a:lnSpc>
                <a:spcPct val="100000"/>
              </a:lnSpc>
              <a:spcBef>
                <a:spcPct val="0"/>
              </a:spcBef>
              <a:spcAft>
                <a:spcPct val="0"/>
              </a:spcAft>
              <a:buClrTx/>
              <a:buSzTx/>
              <a:buFontTx/>
              <a:buNone/>
              <a:tabLst/>
            </a:pPr>
            <a:r>
              <a:rPr kumimoji="0" lang="en-US" altLang="en-US" sz="3200" i="0" u="none" strike="noStrike" cap="none" normalizeH="0" baseline="0" dirty="0">
                <a:ln>
                  <a:noFill/>
                </a:ln>
                <a:solidFill>
                  <a:schemeClr val="tx1"/>
                </a:solidFill>
                <a:effectLst/>
                <a:latin typeface="Cambria" panose="02040503050406030204" pitchFamily="18" charset="0"/>
                <a:ea typeface="Cambria" panose="02040503050406030204" pitchFamily="18" charset="0"/>
              </a:rPr>
              <a:t>Many basic e-commerce websites are not responsive and do not work properly on mobile or tablet devices. The layout may break on different screen sizes, which affects user experience. In some websites, cart items disappear after refreshing the page or closing the browser. This happens because there is no proper system to save cart data. As a result, users lose their selected products and feel frustrated. Modern platforms like Amazon provide responsive design and maintain cart data even after refresh. Therefore, there is a need to develop a responsive e-commerce interface with a state-persistent cart system to improve usability and reliability.</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grpSp>
        <p:nvGrpSpPr>
          <p:cNvPr id="7" name="Group 7"/>
          <p:cNvGrpSpPr/>
          <p:nvPr/>
        </p:nvGrpSpPr>
        <p:grpSpPr>
          <a:xfrm>
            <a:off x="709357" y="3315742"/>
            <a:ext cx="992463" cy="992463"/>
            <a:chOff x="0" y="0"/>
            <a:chExt cx="812800" cy="812800"/>
          </a:xfrm>
        </p:grpSpPr>
        <p:sp>
          <p:nvSpPr>
            <p:cNvPr id="8" name="Freeform 8"/>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sp>
        <p:sp>
          <p:nvSpPr>
            <p:cNvPr id="9" name="TextBox 9"/>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699">
                  <a:solidFill>
                    <a:srgbClr val="FFFEFE"/>
                  </a:solidFill>
                  <a:latin typeface="Gotham"/>
                  <a:ea typeface="Gotham"/>
                  <a:cs typeface="Gotham"/>
                  <a:sym typeface="Gotham"/>
                </a:rPr>
                <a:t>3</a:t>
              </a:r>
            </a:p>
          </p:txBody>
        </p:sp>
      </p:grpSp>
      <p:grpSp>
        <p:nvGrpSpPr>
          <p:cNvPr id="10" name="Group 10"/>
          <p:cNvGrpSpPr/>
          <p:nvPr/>
        </p:nvGrpSpPr>
        <p:grpSpPr>
          <a:xfrm>
            <a:off x="951509" y="4428296"/>
            <a:ext cx="508158" cy="543805"/>
            <a:chOff x="0" y="0"/>
            <a:chExt cx="812800" cy="869819"/>
          </a:xfrm>
        </p:grpSpPr>
        <p:sp>
          <p:nvSpPr>
            <p:cNvPr id="11" name="Freeform 11"/>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2" name="TextBox 12"/>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13" name="Group 13"/>
          <p:cNvGrpSpPr/>
          <p:nvPr/>
        </p:nvGrpSpPr>
        <p:grpSpPr>
          <a:xfrm>
            <a:off x="951509" y="1982349"/>
            <a:ext cx="508158" cy="543805"/>
            <a:chOff x="0" y="0"/>
            <a:chExt cx="812800" cy="869819"/>
          </a:xfrm>
        </p:grpSpPr>
        <p:sp>
          <p:nvSpPr>
            <p:cNvPr id="14" name="Freeform 14"/>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5" name="TextBox 15"/>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16" name="Group 16"/>
          <p:cNvGrpSpPr/>
          <p:nvPr/>
        </p:nvGrpSpPr>
        <p:grpSpPr>
          <a:xfrm>
            <a:off x="951509" y="5094059"/>
            <a:ext cx="508158" cy="543805"/>
            <a:chOff x="0" y="0"/>
            <a:chExt cx="812800" cy="869819"/>
          </a:xfrm>
        </p:grpSpPr>
        <p:sp>
          <p:nvSpPr>
            <p:cNvPr id="17" name="Freeform 17"/>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8" name="TextBox 18"/>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19" name="Group 19"/>
          <p:cNvGrpSpPr/>
          <p:nvPr/>
        </p:nvGrpSpPr>
        <p:grpSpPr>
          <a:xfrm>
            <a:off x="951509" y="2648112"/>
            <a:ext cx="508158" cy="543805"/>
            <a:chOff x="0" y="0"/>
            <a:chExt cx="812800" cy="869819"/>
          </a:xfrm>
        </p:grpSpPr>
        <p:sp>
          <p:nvSpPr>
            <p:cNvPr id="20" name="Freeform 20"/>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1" name="TextBox 21"/>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22" name="Group 22"/>
          <p:cNvGrpSpPr/>
          <p:nvPr/>
        </p:nvGrpSpPr>
        <p:grpSpPr>
          <a:xfrm>
            <a:off x="951509" y="6425585"/>
            <a:ext cx="508158" cy="543805"/>
            <a:chOff x="0" y="0"/>
            <a:chExt cx="812800" cy="869819"/>
          </a:xfrm>
        </p:grpSpPr>
        <p:sp>
          <p:nvSpPr>
            <p:cNvPr id="23" name="Freeform 23"/>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4" name="TextBox 24"/>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25" name="Group 25"/>
          <p:cNvGrpSpPr/>
          <p:nvPr/>
        </p:nvGrpSpPr>
        <p:grpSpPr>
          <a:xfrm>
            <a:off x="951509" y="5759822"/>
            <a:ext cx="508158" cy="543805"/>
            <a:chOff x="0" y="0"/>
            <a:chExt cx="812800" cy="869819"/>
          </a:xfrm>
        </p:grpSpPr>
        <p:sp>
          <p:nvSpPr>
            <p:cNvPr id="26" name="Freeform 26"/>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7" name="TextBox 27"/>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41" name="Group 41"/>
          <p:cNvGrpSpPr/>
          <p:nvPr/>
        </p:nvGrpSpPr>
        <p:grpSpPr>
          <a:xfrm>
            <a:off x="951509" y="7093216"/>
            <a:ext cx="508158" cy="543805"/>
            <a:chOff x="0" y="0"/>
            <a:chExt cx="812800" cy="869819"/>
          </a:xfrm>
        </p:grpSpPr>
        <p:sp>
          <p:nvSpPr>
            <p:cNvPr id="42" name="Freeform 42"/>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43" name="TextBox 43"/>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8</a:t>
              </a:r>
            </a:p>
          </p:txBody>
        </p:sp>
      </p:grpSp>
      <p:grpSp>
        <p:nvGrpSpPr>
          <p:cNvPr id="44" name="Group 44"/>
          <p:cNvGrpSpPr/>
          <p:nvPr/>
        </p:nvGrpSpPr>
        <p:grpSpPr>
          <a:xfrm>
            <a:off x="951509" y="7760846"/>
            <a:ext cx="508158" cy="543805"/>
            <a:chOff x="0" y="0"/>
            <a:chExt cx="812800" cy="869819"/>
          </a:xfrm>
        </p:grpSpPr>
        <p:sp>
          <p:nvSpPr>
            <p:cNvPr id="45" name="Freeform 45"/>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46" name="TextBox 46"/>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50" name="TextBox 49">
            <a:extLst>
              <a:ext uri="{FF2B5EF4-FFF2-40B4-BE49-F238E27FC236}">
                <a16:creationId xmlns:a16="http://schemas.microsoft.com/office/drawing/2014/main" id="{5B915D36-EE4F-CB45-6DD3-E1B9C803EB40}"/>
              </a:ext>
            </a:extLst>
          </p:cNvPr>
          <p:cNvSpPr txBox="1"/>
          <p:nvPr/>
        </p:nvSpPr>
        <p:spPr>
          <a:xfrm>
            <a:off x="152400" y="350103"/>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OBJECTIVE(S)</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51" name="Freeform 10">
            <a:extLst>
              <a:ext uri="{FF2B5EF4-FFF2-40B4-BE49-F238E27FC236}">
                <a16:creationId xmlns:a16="http://schemas.microsoft.com/office/drawing/2014/main" id="{CC7EEF9B-9155-23B5-AEE9-85067B6C258B}"/>
              </a:ext>
            </a:extLst>
          </p:cNvPr>
          <p:cNvSpPr/>
          <p:nvPr/>
        </p:nvSpPr>
        <p:spPr>
          <a:xfrm>
            <a:off x="16313420" y="910465"/>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a:extLst>
                <a:ext uri="{96DAC541-7B7A-43D3-8B79-37D633B846F1}">
                  <asvg:svgBlip xmlns:asvg="http://schemas.microsoft.com/office/drawing/2016/SVG/main" r:embed="rId2"/>
                </a:ext>
              </a:extLst>
            </a:blip>
            <a:stretch>
              <a:fillRect/>
            </a:stretch>
          </a:blipFill>
        </p:spPr>
      </p:sp>
      <p:sp>
        <p:nvSpPr>
          <p:cNvPr id="52" name="TextBox 51">
            <a:extLst>
              <a:ext uri="{FF2B5EF4-FFF2-40B4-BE49-F238E27FC236}">
                <a16:creationId xmlns:a16="http://schemas.microsoft.com/office/drawing/2014/main" id="{056A0A3A-1541-5EC0-5370-02DA282ABDDE}"/>
              </a:ext>
            </a:extLst>
          </p:cNvPr>
          <p:cNvSpPr txBox="1"/>
          <p:nvPr/>
        </p:nvSpPr>
        <p:spPr>
          <a:xfrm>
            <a:off x="2209800" y="1486198"/>
            <a:ext cx="15082325" cy="10433625"/>
          </a:xfrm>
          <a:prstGeom prst="rect">
            <a:avLst/>
          </a:prstGeom>
          <a:noFill/>
        </p:spPr>
        <p:txBody>
          <a:bodyPr wrap="square" rtlCol="0">
            <a:spAutoFit/>
          </a:bodyPr>
          <a:lstStyle/>
          <a:p>
            <a:pPr marL="457200" indent="-457200">
              <a:buFont typeface="Arial" panose="020B0604020202020204" pitchFamily="34" charset="0"/>
              <a:buChar char="•"/>
            </a:pPr>
            <a:endParaRPr lang="en-US" sz="2800" dirty="0">
              <a:latin typeface="Arial" panose="020B0604020202020204" pitchFamily="34" charset="0"/>
              <a:cs typeface="Arial" panose="020B0604020202020204" pitchFamily="34" charset="0"/>
            </a:endParaRPr>
          </a:p>
          <a:p>
            <a:pPr marL="457200" indent="-457200">
              <a:buFont typeface="Arial" panose="020B0604020202020204" pitchFamily="34" charset="0"/>
              <a:buChar char="•"/>
            </a:pPr>
            <a:endParaRPr lang="en-US" sz="2800" dirty="0">
              <a:latin typeface="Arial" panose="020B0604020202020204" pitchFamily="34" charset="0"/>
              <a:cs typeface="Arial" panose="020B0604020202020204" pitchFamily="34" charset="0"/>
            </a:endParaRPr>
          </a:p>
          <a:p>
            <a:pPr marL="457200" indent="-457200">
              <a:buFont typeface="Arial" panose="020B0604020202020204" pitchFamily="34" charset="0"/>
              <a:buChar char="•"/>
            </a:pPr>
            <a:endParaRPr lang="en-US" sz="2800" dirty="0">
              <a:latin typeface="Arial" panose="020B0604020202020204" pitchFamily="34" charset="0"/>
              <a:cs typeface="Arial" panose="020B0604020202020204" pitchFamily="34" charset="0"/>
            </a:endParaRPr>
          </a:p>
          <a:p>
            <a:pPr marL="457200" indent="-457200">
              <a:buFont typeface="Arial" panose="020B0604020202020204" pitchFamily="34" charset="0"/>
              <a:buChar char="•"/>
            </a:pPr>
            <a:r>
              <a:rPr lang="en-US" sz="2800" dirty="0">
                <a:latin typeface="Arial" panose="020B0604020202020204" pitchFamily="34" charset="0"/>
                <a:cs typeface="Arial" panose="020B0604020202020204" pitchFamily="34" charset="0"/>
              </a:rPr>
              <a:t>To design and develop a responsive e-commerce interface that works smoothly on mobile, tablet, and desktop devices.</a:t>
            </a:r>
          </a:p>
          <a:p>
            <a:endParaRPr lang="en-US" sz="2800" dirty="0">
              <a:latin typeface="Arial" panose="020B0604020202020204" pitchFamily="34" charset="0"/>
              <a:cs typeface="Arial" panose="020B0604020202020204" pitchFamily="34" charset="0"/>
            </a:endParaRPr>
          </a:p>
          <a:p>
            <a:pPr marL="457200" indent="-457200">
              <a:buFont typeface="Arial" panose="020B0604020202020204" pitchFamily="34" charset="0"/>
              <a:buChar char="•"/>
            </a:pPr>
            <a:r>
              <a:rPr lang="en-US" sz="2800" dirty="0">
                <a:latin typeface="Arial" panose="020B0604020202020204" pitchFamily="34" charset="0"/>
                <a:cs typeface="Arial" panose="020B0604020202020204" pitchFamily="34" charset="0"/>
              </a:rPr>
              <a:t>To implement a responsive e-commerce interface that adapts to different screen sizes and devices.</a:t>
            </a:r>
          </a:p>
          <a:p>
            <a:endParaRPr lang="en-US" sz="2800" dirty="0">
              <a:latin typeface="Arial" panose="020B0604020202020204" pitchFamily="34" charset="0"/>
              <a:cs typeface="Arial" panose="020B0604020202020204" pitchFamily="34" charset="0"/>
            </a:endParaRPr>
          </a:p>
          <a:p>
            <a:pPr marL="457200" indent="-457200">
              <a:buFont typeface="Arial" panose="020B0604020202020204" pitchFamily="34" charset="0"/>
              <a:buChar char="•"/>
            </a:pPr>
            <a:r>
              <a:rPr lang="en-US" sz="2800" dirty="0">
                <a:latin typeface="Arial" panose="020B0604020202020204" pitchFamily="34" charset="0"/>
                <a:cs typeface="Arial" panose="020B0604020202020204" pitchFamily="34" charset="0"/>
              </a:rPr>
              <a:t>To improve the responsiveness of the e-commerce interface so it works smoothly on all devices.</a:t>
            </a:r>
          </a:p>
          <a:p>
            <a:endParaRPr lang="en-US" sz="2800" dirty="0">
              <a:latin typeface="Arial" panose="020B0604020202020204" pitchFamily="34" charset="0"/>
              <a:cs typeface="Arial" panose="020B0604020202020204" pitchFamily="34" charset="0"/>
            </a:endParaRPr>
          </a:p>
          <a:p>
            <a:pPr marL="457200" indent="-457200">
              <a:buFont typeface="Arial" panose="020B0604020202020204" pitchFamily="34" charset="0"/>
              <a:buChar char="•"/>
            </a:pPr>
            <a:r>
              <a:rPr lang="en-US" sz="2800" dirty="0">
                <a:latin typeface="Arial" panose="020B0604020202020204" pitchFamily="34" charset="0"/>
                <a:cs typeface="Arial" panose="020B0604020202020204" pitchFamily="34" charset="0"/>
              </a:rPr>
              <a:t>To evaluate the efficiency and reliability of the state-persistent cart system during user interactions.</a:t>
            </a:r>
          </a:p>
          <a:p>
            <a:endParaRPr lang="en-US" sz="2800" dirty="0">
              <a:latin typeface="Arial" panose="020B0604020202020204" pitchFamily="34" charset="0"/>
              <a:cs typeface="Arial" panose="020B0604020202020204" pitchFamily="34" charset="0"/>
            </a:endParaRPr>
          </a:p>
          <a:p>
            <a:endParaRPr lang="en-US" sz="2800" dirty="0"/>
          </a:p>
          <a:p>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IN" sz="28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grpSp>
        <p:nvGrpSpPr>
          <p:cNvPr id="13" name="Group 13"/>
          <p:cNvGrpSpPr/>
          <p:nvPr/>
        </p:nvGrpSpPr>
        <p:grpSpPr>
          <a:xfrm>
            <a:off x="709357" y="3983373"/>
            <a:ext cx="992463" cy="992463"/>
            <a:chOff x="0" y="0"/>
            <a:chExt cx="812800" cy="812800"/>
          </a:xfrm>
        </p:grpSpPr>
        <p:sp>
          <p:nvSpPr>
            <p:cNvPr id="14" name="Freeform 14"/>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sp>
        <p:sp>
          <p:nvSpPr>
            <p:cNvPr id="15" name="TextBox 15"/>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699">
                  <a:solidFill>
                    <a:srgbClr val="FFFEFE"/>
                  </a:solidFill>
                  <a:latin typeface="Gotham"/>
                  <a:ea typeface="Gotham"/>
                  <a:cs typeface="Gotham"/>
                  <a:sym typeface="Gotham"/>
                </a:rPr>
                <a:t>4</a:t>
              </a:r>
            </a:p>
          </p:txBody>
        </p:sp>
      </p:grpSp>
      <p:grpSp>
        <p:nvGrpSpPr>
          <p:cNvPr id="16" name="Group 16"/>
          <p:cNvGrpSpPr/>
          <p:nvPr/>
        </p:nvGrpSpPr>
        <p:grpSpPr>
          <a:xfrm>
            <a:off x="951509" y="3315742"/>
            <a:ext cx="508158" cy="543805"/>
            <a:chOff x="0" y="0"/>
            <a:chExt cx="812800" cy="869819"/>
          </a:xfrm>
        </p:grpSpPr>
        <p:sp>
          <p:nvSpPr>
            <p:cNvPr id="17" name="Freeform 17"/>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8" name="TextBox 18"/>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19" name="Group 19"/>
          <p:cNvGrpSpPr/>
          <p:nvPr/>
        </p:nvGrpSpPr>
        <p:grpSpPr>
          <a:xfrm>
            <a:off x="951509" y="1982349"/>
            <a:ext cx="508158" cy="543805"/>
            <a:chOff x="0" y="0"/>
            <a:chExt cx="812800" cy="869819"/>
          </a:xfrm>
        </p:grpSpPr>
        <p:sp>
          <p:nvSpPr>
            <p:cNvPr id="20" name="Freeform 20"/>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1" name="TextBox 21"/>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22" name="Group 22"/>
          <p:cNvGrpSpPr/>
          <p:nvPr/>
        </p:nvGrpSpPr>
        <p:grpSpPr>
          <a:xfrm>
            <a:off x="951509" y="5094059"/>
            <a:ext cx="508158" cy="543805"/>
            <a:chOff x="0" y="0"/>
            <a:chExt cx="812800" cy="869819"/>
          </a:xfrm>
        </p:grpSpPr>
        <p:sp>
          <p:nvSpPr>
            <p:cNvPr id="23" name="Freeform 23"/>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4" name="TextBox 24"/>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25" name="Group 25"/>
          <p:cNvGrpSpPr/>
          <p:nvPr/>
        </p:nvGrpSpPr>
        <p:grpSpPr>
          <a:xfrm>
            <a:off x="951509" y="2648112"/>
            <a:ext cx="508158" cy="543805"/>
            <a:chOff x="0" y="0"/>
            <a:chExt cx="812800" cy="869819"/>
          </a:xfrm>
        </p:grpSpPr>
        <p:sp>
          <p:nvSpPr>
            <p:cNvPr id="26" name="Freeform 26"/>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7" name="TextBox 27"/>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28" name="Group 28"/>
          <p:cNvGrpSpPr/>
          <p:nvPr/>
        </p:nvGrpSpPr>
        <p:grpSpPr>
          <a:xfrm>
            <a:off x="951509" y="6425585"/>
            <a:ext cx="508158" cy="543805"/>
            <a:chOff x="0" y="0"/>
            <a:chExt cx="812800" cy="869819"/>
          </a:xfrm>
        </p:grpSpPr>
        <p:sp>
          <p:nvSpPr>
            <p:cNvPr id="29" name="Freeform 29"/>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0" name="TextBox 30"/>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31" name="Group 31"/>
          <p:cNvGrpSpPr/>
          <p:nvPr/>
        </p:nvGrpSpPr>
        <p:grpSpPr>
          <a:xfrm>
            <a:off x="951509" y="5759822"/>
            <a:ext cx="508158" cy="543805"/>
            <a:chOff x="0" y="0"/>
            <a:chExt cx="812800" cy="869819"/>
          </a:xfrm>
        </p:grpSpPr>
        <p:sp>
          <p:nvSpPr>
            <p:cNvPr id="32" name="Freeform 32"/>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3" name="TextBox 33"/>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34" name="Group 34"/>
          <p:cNvGrpSpPr/>
          <p:nvPr/>
        </p:nvGrpSpPr>
        <p:grpSpPr>
          <a:xfrm>
            <a:off x="951509" y="7093216"/>
            <a:ext cx="508158" cy="543805"/>
            <a:chOff x="0" y="0"/>
            <a:chExt cx="812800" cy="869819"/>
          </a:xfrm>
        </p:grpSpPr>
        <p:sp>
          <p:nvSpPr>
            <p:cNvPr id="35" name="Freeform 35"/>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6" name="TextBox 36"/>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8</a:t>
              </a:r>
            </a:p>
          </p:txBody>
        </p:sp>
      </p:grpSp>
      <p:grpSp>
        <p:nvGrpSpPr>
          <p:cNvPr id="37" name="Group 37"/>
          <p:cNvGrpSpPr/>
          <p:nvPr/>
        </p:nvGrpSpPr>
        <p:grpSpPr>
          <a:xfrm>
            <a:off x="951509" y="7760846"/>
            <a:ext cx="508158" cy="543805"/>
            <a:chOff x="0" y="0"/>
            <a:chExt cx="812800" cy="869819"/>
          </a:xfrm>
        </p:grpSpPr>
        <p:sp>
          <p:nvSpPr>
            <p:cNvPr id="38" name="Freeform 38"/>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9" name="TextBox 39"/>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45" name="Freeform 10">
            <a:extLst>
              <a:ext uri="{FF2B5EF4-FFF2-40B4-BE49-F238E27FC236}">
                <a16:creationId xmlns:a16="http://schemas.microsoft.com/office/drawing/2014/main" id="{D5D1FD99-C9A7-927E-AD67-E70F11DBAAA2}"/>
              </a:ext>
            </a:extLst>
          </p:cNvPr>
          <p:cNvSpPr/>
          <p:nvPr/>
        </p:nvSpPr>
        <p:spPr>
          <a:xfrm>
            <a:off x="16313420" y="910465"/>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a:extLst>
                <a:ext uri="{96DAC541-7B7A-43D3-8B79-37D633B846F1}">
                  <asvg:svgBlip xmlns:asvg="http://schemas.microsoft.com/office/drawing/2016/SVG/main" r:embed="rId2"/>
                </a:ext>
              </a:extLst>
            </a:blip>
            <a:stretch>
              <a:fillRect/>
            </a:stretch>
          </a:blipFill>
        </p:spPr>
      </p:sp>
      <p:sp>
        <p:nvSpPr>
          <p:cNvPr id="46" name="TextBox 45">
            <a:extLst>
              <a:ext uri="{FF2B5EF4-FFF2-40B4-BE49-F238E27FC236}">
                <a16:creationId xmlns:a16="http://schemas.microsoft.com/office/drawing/2014/main" id="{E7218D14-8F44-8040-8BFD-49A59591F527}"/>
              </a:ext>
            </a:extLst>
          </p:cNvPr>
          <p:cNvSpPr txBox="1"/>
          <p:nvPr/>
        </p:nvSpPr>
        <p:spPr>
          <a:xfrm>
            <a:off x="152400" y="342900"/>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PROPOSED SYSTEM</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48" name="TextBox 47">
            <a:extLst>
              <a:ext uri="{FF2B5EF4-FFF2-40B4-BE49-F238E27FC236}">
                <a16:creationId xmlns:a16="http://schemas.microsoft.com/office/drawing/2014/main" id="{E8F19716-1653-9AE0-442E-B3829A585B46}"/>
              </a:ext>
            </a:extLst>
          </p:cNvPr>
          <p:cNvSpPr txBox="1"/>
          <p:nvPr/>
        </p:nvSpPr>
        <p:spPr>
          <a:xfrm>
            <a:off x="2743200" y="2379476"/>
            <a:ext cx="15082325" cy="10433625"/>
          </a:xfrm>
          <a:prstGeom prst="rect">
            <a:avLst/>
          </a:prstGeom>
          <a:noFill/>
        </p:spPr>
        <p:txBody>
          <a:bodyPr wrap="square" rtlCol="0">
            <a:spAutoFit/>
          </a:bodyPr>
          <a:lstStyle/>
          <a:p>
            <a:endParaRPr lang="en-US" sz="2800" b="1" dirty="0"/>
          </a:p>
          <a:p>
            <a:pPr marL="914400" lvl="1" indent="-457200">
              <a:buFont typeface="Arial" panose="020B0604020202020204" pitchFamily="34" charset="0"/>
              <a:buChar char="•"/>
            </a:pPr>
            <a:r>
              <a:rPr lang="en-US" sz="2800" b="1" dirty="0"/>
              <a:t>Description of the solution</a:t>
            </a:r>
          </a:p>
          <a:p>
            <a:pPr lvl="1"/>
            <a:r>
              <a:rPr lang="en-US" sz="2800" b="1" dirty="0"/>
              <a:t>    -</a:t>
            </a:r>
            <a:r>
              <a:rPr lang="en-US" sz="2800" dirty="0"/>
              <a:t>The solution is a responsive e-commerce web </a:t>
            </a:r>
            <a:r>
              <a:rPr lang="en-US" sz="2800" dirty="0" err="1"/>
              <a:t>applicartion</a:t>
            </a:r>
            <a:r>
              <a:rPr lang="en-US" sz="2800" dirty="0"/>
              <a:t> with a state-persistent cart system.</a:t>
            </a:r>
          </a:p>
          <a:p>
            <a:pPr lvl="1"/>
            <a:r>
              <a:rPr lang="en-US" sz="2800" b="1" dirty="0"/>
              <a:t>    -</a:t>
            </a:r>
            <a:r>
              <a:rPr lang="en-US" sz="2800" dirty="0"/>
              <a:t>It is designed to adapt automatically to different screen sizes such as mobile, tablet, and desktop.</a:t>
            </a:r>
          </a:p>
          <a:p>
            <a:pPr lvl="1"/>
            <a:endParaRPr lang="en-US" sz="2800" dirty="0"/>
          </a:p>
          <a:p>
            <a:pPr marL="914400" lvl="1" indent="-457200">
              <a:buFont typeface="Arial" panose="020B0604020202020204" pitchFamily="34" charset="0"/>
              <a:buChar char="•"/>
            </a:pPr>
            <a:r>
              <a:rPr lang="en-US" sz="2800" b="1" dirty="0"/>
              <a:t>How it solves existing issues</a:t>
            </a:r>
          </a:p>
          <a:p>
            <a:pPr lvl="1"/>
            <a:r>
              <a:rPr lang="en-US" sz="2800" b="1" dirty="0"/>
              <a:t>     -</a:t>
            </a:r>
            <a:r>
              <a:rPr lang="en-US" sz="2800" dirty="0"/>
              <a:t>It uses responsive design to fix layout problems on mobile and tablet devices.</a:t>
            </a:r>
          </a:p>
          <a:p>
            <a:pPr lvl="1"/>
            <a:r>
              <a:rPr lang="en-US" sz="2800" dirty="0"/>
              <a:t>     </a:t>
            </a:r>
            <a:r>
              <a:rPr lang="en-US" sz="2800" b="1" dirty="0"/>
              <a:t>-</a:t>
            </a:r>
            <a:r>
              <a:rPr lang="en-US" sz="2800" dirty="0"/>
              <a:t>It ensures proper displays across different screen sizes.</a:t>
            </a:r>
          </a:p>
          <a:p>
            <a:pPr lvl="1"/>
            <a:endParaRPr lang="en-US" sz="2800" b="1" dirty="0"/>
          </a:p>
          <a:p>
            <a:pPr marL="914400" lvl="1" indent="-457200">
              <a:buFont typeface="Arial" panose="020B0604020202020204" pitchFamily="34" charset="0"/>
              <a:buChar char="•"/>
            </a:pPr>
            <a:r>
              <a:rPr lang="en-US" sz="2800" b="1" dirty="0"/>
              <a:t>Advantages over current systems</a:t>
            </a:r>
          </a:p>
          <a:p>
            <a:pPr lvl="1"/>
            <a:r>
              <a:rPr lang="en-US" sz="2800" b="1" dirty="0"/>
              <a:t>     -</a:t>
            </a:r>
            <a:r>
              <a:rPr lang="en-US" sz="2800" dirty="0"/>
              <a:t>Provides a fully responsive design that works on all devices.</a:t>
            </a:r>
          </a:p>
          <a:p>
            <a:pPr lvl="1"/>
            <a:r>
              <a:rPr lang="en-US" sz="2800" dirty="0"/>
              <a:t>     </a:t>
            </a:r>
            <a:r>
              <a:rPr lang="en-US" sz="2800" b="1" dirty="0"/>
              <a:t>-</a:t>
            </a:r>
            <a:r>
              <a:rPr lang="en-US" sz="2800" dirty="0"/>
              <a:t>Maintains cart data even after page refresh or browser closure.</a:t>
            </a:r>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IN" sz="28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grpSp>
        <p:nvGrpSpPr>
          <p:cNvPr id="5" name="Group 5"/>
          <p:cNvGrpSpPr/>
          <p:nvPr/>
        </p:nvGrpSpPr>
        <p:grpSpPr>
          <a:xfrm>
            <a:off x="709357" y="4655766"/>
            <a:ext cx="992463" cy="992463"/>
            <a:chOff x="0" y="0"/>
            <a:chExt cx="812800" cy="812800"/>
          </a:xfrm>
        </p:grpSpPr>
        <p:sp>
          <p:nvSpPr>
            <p:cNvPr id="6" name="Freeform 6"/>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sp>
        <p:sp>
          <p:nvSpPr>
            <p:cNvPr id="7" name="TextBox 7"/>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699">
                  <a:solidFill>
                    <a:srgbClr val="FFFEFE"/>
                  </a:solidFill>
                  <a:latin typeface="Gotham"/>
                  <a:ea typeface="Gotham"/>
                  <a:cs typeface="Gotham"/>
                  <a:sym typeface="Gotham"/>
                </a:rPr>
                <a:t>5</a:t>
              </a:r>
            </a:p>
          </p:txBody>
        </p:sp>
      </p:grpSp>
      <p:grpSp>
        <p:nvGrpSpPr>
          <p:cNvPr id="8" name="Group 8"/>
          <p:cNvGrpSpPr/>
          <p:nvPr/>
        </p:nvGrpSpPr>
        <p:grpSpPr>
          <a:xfrm>
            <a:off x="951509" y="3320505"/>
            <a:ext cx="508158" cy="543805"/>
            <a:chOff x="0" y="0"/>
            <a:chExt cx="812800" cy="869819"/>
          </a:xfrm>
        </p:grpSpPr>
        <p:sp>
          <p:nvSpPr>
            <p:cNvPr id="9" name="Freeform 9"/>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0" name="TextBox 10"/>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11" name="Group 11"/>
          <p:cNvGrpSpPr/>
          <p:nvPr/>
        </p:nvGrpSpPr>
        <p:grpSpPr>
          <a:xfrm>
            <a:off x="951509" y="1987111"/>
            <a:ext cx="508158" cy="543805"/>
            <a:chOff x="0" y="0"/>
            <a:chExt cx="812800" cy="869819"/>
          </a:xfrm>
        </p:grpSpPr>
        <p:sp>
          <p:nvSpPr>
            <p:cNvPr id="12" name="Freeform 12"/>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3" name="TextBox 13"/>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14" name="Group 14"/>
          <p:cNvGrpSpPr/>
          <p:nvPr/>
        </p:nvGrpSpPr>
        <p:grpSpPr>
          <a:xfrm>
            <a:off x="951509" y="3988135"/>
            <a:ext cx="508158" cy="543805"/>
            <a:chOff x="0" y="0"/>
            <a:chExt cx="812800" cy="869819"/>
          </a:xfrm>
        </p:grpSpPr>
        <p:sp>
          <p:nvSpPr>
            <p:cNvPr id="15" name="Freeform 15"/>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6" name="TextBox 16"/>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17" name="Group 17"/>
          <p:cNvGrpSpPr/>
          <p:nvPr/>
        </p:nvGrpSpPr>
        <p:grpSpPr>
          <a:xfrm>
            <a:off x="951509" y="2652874"/>
            <a:ext cx="508158" cy="543805"/>
            <a:chOff x="0" y="0"/>
            <a:chExt cx="812800" cy="869819"/>
          </a:xfrm>
        </p:grpSpPr>
        <p:sp>
          <p:nvSpPr>
            <p:cNvPr id="18" name="Freeform 18"/>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9" name="TextBox 19"/>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20" name="Group 20"/>
          <p:cNvGrpSpPr/>
          <p:nvPr/>
        </p:nvGrpSpPr>
        <p:grpSpPr>
          <a:xfrm>
            <a:off x="951509" y="6430348"/>
            <a:ext cx="508158" cy="543805"/>
            <a:chOff x="0" y="0"/>
            <a:chExt cx="812800" cy="869819"/>
          </a:xfrm>
        </p:grpSpPr>
        <p:sp>
          <p:nvSpPr>
            <p:cNvPr id="21" name="Freeform 21"/>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2" name="TextBox 22"/>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23" name="Group 23"/>
          <p:cNvGrpSpPr/>
          <p:nvPr/>
        </p:nvGrpSpPr>
        <p:grpSpPr>
          <a:xfrm>
            <a:off x="951509" y="5764584"/>
            <a:ext cx="508158" cy="543805"/>
            <a:chOff x="0" y="0"/>
            <a:chExt cx="812800" cy="869819"/>
          </a:xfrm>
        </p:grpSpPr>
        <p:sp>
          <p:nvSpPr>
            <p:cNvPr id="24" name="Freeform 24"/>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5" name="TextBox 25"/>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26" name="Group 26"/>
          <p:cNvGrpSpPr/>
          <p:nvPr/>
        </p:nvGrpSpPr>
        <p:grpSpPr>
          <a:xfrm>
            <a:off x="951509" y="7088453"/>
            <a:ext cx="508158" cy="543805"/>
            <a:chOff x="0" y="0"/>
            <a:chExt cx="812800" cy="869819"/>
          </a:xfrm>
        </p:grpSpPr>
        <p:sp>
          <p:nvSpPr>
            <p:cNvPr id="27" name="Freeform 27"/>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8" name="TextBox 28"/>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8</a:t>
              </a:r>
            </a:p>
          </p:txBody>
        </p:sp>
      </p:grpSp>
      <p:grpSp>
        <p:nvGrpSpPr>
          <p:cNvPr id="29" name="Group 29"/>
          <p:cNvGrpSpPr/>
          <p:nvPr/>
        </p:nvGrpSpPr>
        <p:grpSpPr>
          <a:xfrm>
            <a:off x="951509" y="7756083"/>
            <a:ext cx="508158" cy="543805"/>
            <a:chOff x="0" y="0"/>
            <a:chExt cx="812800" cy="869819"/>
          </a:xfrm>
        </p:grpSpPr>
        <p:sp>
          <p:nvSpPr>
            <p:cNvPr id="30" name="Freeform 30"/>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1" name="TextBox 31"/>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grpSp>
        <p:nvGrpSpPr>
          <p:cNvPr id="37" name="Group 37"/>
          <p:cNvGrpSpPr/>
          <p:nvPr/>
        </p:nvGrpSpPr>
        <p:grpSpPr>
          <a:xfrm>
            <a:off x="11762088" y="-9632634"/>
            <a:ext cx="10994424" cy="10994424"/>
            <a:chOff x="0" y="0"/>
            <a:chExt cx="812800" cy="812800"/>
          </a:xfrm>
        </p:grpSpPr>
        <p:sp>
          <p:nvSpPr>
            <p:cNvPr id="38" name="Freeform 38"/>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514350" cap="sq">
              <a:solidFill>
                <a:srgbClr val="FD6220">
                  <a:alpha val="11765"/>
                </a:srgbClr>
              </a:solidFill>
              <a:prstDash val="solid"/>
              <a:miter/>
            </a:ln>
          </p:spPr>
        </p:sp>
        <p:sp>
          <p:nvSpPr>
            <p:cNvPr id="39" name="TextBox 39"/>
            <p:cNvSpPr txBox="1"/>
            <p:nvPr/>
          </p:nvSpPr>
          <p:spPr>
            <a:xfrm>
              <a:off x="76200" y="47625"/>
              <a:ext cx="660400" cy="688975"/>
            </a:xfrm>
            <a:prstGeom prst="rect">
              <a:avLst/>
            </a:prstGeom>
          </p:spPr>
          <p:txBody>
            <a:bodyPr lIns="50800" tIns="50800" rIns="50800" bIns="50800" rtlCol="0" anchor="ctr"/>
            <a:lstStyle/>
            <a:p>
              <a:pPr algn="ctr">
                <a:lnSpc>
                  <a:spcPts val="2659"/>
                </a:lnSpc>
              </a:pPr>
              <a:endParaRPr/>
            </a:p>
          </p:txBody>
        </p:sp>
      </p:grpSp>
      <p:sp>
        <p:nvSpPr>
          <p:cNvPr id="41" name="Freeform 10">
            <a:extLst>
              <a:ext uri="{FF2B5EF4-FFF2-40B4-BE49-F238E27FC236}">
                <a16:creationId xmlns:a16="http://schemas.microsoft.com/office/drawing/2014/main" id="{01BC0C31-7FCD-94EE-8B85-19FBC227565C}"/>
              </a:ext>
            </a:extLst>
          </p:cNvPr>
          <p:cNvSpPr/>
          <p:nvPr/>
        </p:nvSpPr>
        <p:spPr>
          <a:xfrm>
            <a:off x="16313420" y="910465"/>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a:extLst>
                <a:ext uri="{96DAC541-7B7A-43D3-8B79-37D633B846F1}">
                  <asvg:svgBlip xmlns:asvg="http://schemas.microsoft.com/office/drawing/2016/SVG/main" r:embed="rId2"/>
                </a:ext>
              </a:extLst>
            </a:blip>
            <a:stretch>
              <a:fillRect/>
            </a:stretch>
          </a:blipFill>
        </p:spPr>
      </p:sp>
      <p:sp>
        <p:nvSpPr>
          <p:cNvPr id="42" name="TextBox 41">
            <a:extLst>
              <a:ext uri="{FF2B5EF4-FFF2-40B4-BE49-F238E27FC236}">
                <a16:creationId xmlns:a16="http://schemas.microsoft.com/office/drawing/2014/main" id="{A4B3B85F-0C7B-16B9-6D50-94A4DFD2D192}"/>
              </a:ext>
            </a:extLst>
          </p:cNvPr>
          <p:cNvSpPr txBox="1"/>
          <p:nvPr/>
        </p:nvSpPr>
        <p:spPr>
          <a:xfrm>
            <a:off x="152400" y="342900"/>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PROPOSED SYSTEM ARCHITECTURE</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43" name="TextBox 42">
            <a:extLst>
              <a:ext uri="{FF2B5EF4-FFF2-40B4-BE49-F238E27FC236}">
                <a16:creationId xmlns:a16="http://schemas.microsoft.com/office/drawing/2014/main" id="{25F9D4B0-38FE-DBA4-164D-1745B68379A5}"/>
              </a:ext>
            </a:extLst>
          </p:cNvPr>
          <p:cNvSpPr txBox="1"/>
          <p:nvPr/>
        </p:nvSpPr>
        <p:spPr>
          <a:xfrm>
            <a:off x="6792879" y="848837"/>
            <a:ext cx="10820400" cy="13880723"/>
          </a:xfrm>
          <a:prstGeom prst="rect">
            <a:avLst/>
          </a:prstGeom>
          <a:noFill/>
        </p:spPr>
        <p:txBody>
          <a:bodyPr wrap="square" rtlCol="0">
            <a:spAutoFit/>
          </a:bodyPr>
          <a:lstStyle/>
          <a:p>
            <a:endParaRPr lang="en-US" sz="2800" dirty="0"/>
          </a:p>
          <a:p>
            <a:pPr marL="457200" indent="-457200">
              <a:buFontTx/>
              <a:buChar char="-"/>
            </a:pPr>
            <a:endParaRPr lang="en-US" sz="2800" dirty="0"/>
          </a:p>
          <a:p>
            <a:pPr marL="1371600" lvl="2" indent="-457200">
              <a:buFont typeface="Wingdings" panose="05000000000000000000" pitchFamily="2" charset="2"/>
              <a:buChar char="Ø"/>
            </a:pPr>
            <a:r>
              <a:rPr lang="en-US" sz="2800" b="1" dirty="0"/>
              <a:t> Input</a:t>
            </a:r>
          </a:p>
          <a:p>
            <a:pPr marL="1371600" lvl="2" indent="-457200">
              <a:buFont typeface="Arial" panose="020B0604020202020204" pitchFamily="34" charset="0"/>
              <a:buChar char="•"/>
            </a:pPr>
            <a:r>
              <a:rPr lang="en-US" sz="2800" dirty="0"/>
              <a:t>The input is the user actions such as selecting products, adding items to the cart, removing items, and updating quantity.</a:t>
            </a:r>
          </a:p>
          <a:p>
            <a:pPr marL="1371600" lvl="2" indent="-457200">
              <a:buFont typeface="Arial" panose="020B0604020202020204" pitchFamily="34" charset="0"/>
              <a:buChar char="•"/>
            </a:pPr>
            <a:r>
              <a:rPr lang="en-US" sz="2800" dirty="0"/>
              <a:t>These actions are given through buttons and forms in the web interface.</a:t>
            </a:r>
          </a:p>
          <a:p>
            <a:pPr marL="1371600" lvl="2" indent="-457200">
              <a:buFont typeface="Wingdings" panose="05000000000000000000" pitchFamily="2" charset="2"/>
              <a:buChar char="Ø"/>
            </a:pPr>
            <a:r>
              <a:rPr lang="en-US" sz="2800" b="1" dirty="0"/>
              <a:t>Processing</a:t>
            </a:r>
          </a:p>
          <a:p>
            <a:pPr marL="1371600" lvl="2" indent="-457200">
              <a:buFont typeface="Arial" panose="020B0604020202020204" pitchFamily="34" charset="0"/>
              <a:buChar char="•"/>
            </a:pPr>
            <a:r>
              <a:rPr lang="en-US" sz="2800" dirty="0"/>
              <a:t>The system processes user actions using JavaScript logic.</a:t>
            </a:r>
          </a:p>
          <a:p>
            <a:pPr marL="1371600" lvl="2" indent="-457200">
              <a:buFont typeface="Arial" panose="020B0604020202020204" pitchFamily="34" charset="0"/>
              <a:buChar char="•"/>
            </a:pPr>
            <a:r>
              <a:rPr lang="en-US" sz="2800" dirty="0"/>
              <a:t>It calculates total price, updates cart items, and manages cart operations dynamically.</a:t>
            </a:r>
          </a:p>
          <a:p>
            <a:pPr marL="1371600" lvl="2" indent="-457200">
              <a:buFont typeface="Wingdings" panose="05000000000000000000" pitchFamily="2" charset="2"/>
              <a:buChar char="Ø"/>
            </a:pPr>
            <a:r>
              <a:rPr lang="en-US" sz="2800" b="1" dirty="0"/>
              <a:t>Database</a:t>
            </a:r>
          </a:p>
          <a:p>
            <a:pPr marL="1371600" lvl="2" indent="-457200">
              <a:buFont typeface="Arial" panose="020B0604020202020204" pitchFamily="34" charset="0"/>
              <a:buChar char="•"/>
            </a:pPr>
            <a:r>
              <a:rPr lang="en-US" sz="2800" dirty="0"/>
              <a:t>Instead of a traditional database, the system uses Local Storage in the browser.</a:t>
            </a:r>
          </a:p>
          <a:p>
            <a:pPr marL="1371600" lvl="2" indent="-457200">
              <a:buFont typeface="Arial" panose="020B0604020202020204" pitchFamily="34" charset="0"/>
              <a:buChar char="•"/>
            </a:pPr>
            <a:r>
              <a:rPr lang="en-US" sz="2800" dirty="0"/>
              <a:t>It stores cart data temporarily to maintain state persistence even after refresh.</a:t>
            </a:r>
          </a:p>
          <a:p>
            <a:pPr marL="1371600" lvl="2" indent="-457200">
              <a:buFont typeface="Wingdings" panose="05000000000000000000" pitchFamily="2" charset="2"/>
              <a:buChar char="Ø"/>
            </a:pPr>
            <a:r>
              <a:rPr lang="en-US" sz="2800" b="1" dirty="0"/>
              <a:t>Output</a:t>
            </a:r>
          </a:p>
          <a:p>
            <a:pPr marL="1371600" lvl="2" indent="-457200">
              <a:buFont typeface="Arial" panose="020B0604020202020204" pitchFamily="34" charset="0"/>
              <a:buChar char="•"/>
            </a:pPr>
            <a:r>
              <a:rPr lang="en-US" sz="2800" dirty="0"/>
              <a:t>The output is the updated cart display shown on the screen.</a:t>
            </a:r>
          </a:p>
          <a:p>
            <a:pPr marL="1371600" lvl="2" indent="-457200">
              <a:buFont typeface="Arial" panose="020B0604020202020204" pitchFamily="34" charset="0"/>
              <a:buChar char="•"/>
            </a:pPr>
            <a:r>
              <a:rPr lang="en-US" sz="2800" dirty="0"/>
              <a:t>It includes product details, quantity, total price, and restored cart data after reload.</a:t>
            </a:r>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IN" sz="2800" dirty="0"/>
          </a:p>
        </p:txBody>
      </p:sp>
      <p:pic>
        <p:nvPicPr>
          <p:cNvPr id="3" name="Picture 2">
            <a:extLst>
              <a:ext uri="{FF2B5EF4-FFF2-40B4-BE49-F238E27FC236}">
                <a16:creationId xmlns:a16="http://schemas.microsoft.com/office/drawing/2014/main" id="{595C50B2-71C7-92C9-D00D-F8921635064F}"/>
              </a:ext>
            </a:extLst>
          </p:cNvPr>
          <p:cNvPicPr>
            <a:picLocks noChangeAspect="1"/>
          </p:cNvPicPr>
          <p:nvPr/>
        </p:nvPicPr>
        <p:blipFill>
          <a:blip r:embed="rId3"/>
          <a:stretch>
            <a:fillRect/>
          </a:stretch>
        </p:blipFill>
        <p:spPr>
          <a:xfrm>
            <a:off x="1822572" y="1189061"/>
            <a:ext cx="5816619" cy="8966837"/>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grpSp>
        <p:nvGrpSpPr>
          <p:cNvPr id="14" name="Group 14"/>
          <p:cNvGrpSpPr/>
          <p:nvPr/>
        </p:nvGrpSpPr>
        <p:grpSpPr>
          <a:xfrm>
            <a:off x="735588" y="5318634"/>
            <a:ext cx="992463" cy="992463"/>
            <a:chOff x="0" y="0"/>
            <a:chExt cx="812800" cy="812800"/>
          </a:xfrm>
        </p:grpSpPr>
        <p:sp>
          <p:nvSpPr>
            <p:cNvPr id="15" name="Freeform 15"/>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sp>
        <p:sp>
          <p:nvSpPr>
            <p:cNvPr id="16" name="TextBox 16"/>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699">
                  <a:solidFill>
                    <a:srgbClr val="FFFEFE"/>
                  </a:solidFill>
                  <a:latin typeface="Gotham"/>
                  <a:ea typeface="Gotham"/>
                  <a:cs typeface="Gotham"/>
                  <a:sym typeface="Gotham"/>
                </a:rPr>
                <a:t>6</a:t>
              </a:r>
            </a:p>
          </p:txBody>
        </p:sp>
      </p:grpSp>
      <p:grpSp>
        <p:nvGrpSpPr>
          <p:cNvPr id="17" name="Group 17"/>
          <p:cNvGrpSpPr/>
          <p:nvPr/>
        </p:nvGrpSpPr>
        <p:grpSpPr>
          <a:xfrm>
            <a:off x="977741" y="3315742"/>
            <a:ext cx="508158" cy="543805"/>
            <a:chOff x="0" y="0"/>
            <a:chExt cx="812800" cy="869819"/>
          </a:xfrm>
        </p:grpSpPr>
        <p:sp>
          <p:nvSpPr>
            <p:cNvPr id="18" name="Freeform 18"/>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9" name="TextBox 19"/>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20" name="Group 20"/>
          <p:cNvGrpSpPr/>
          <p:nvPr/>
        </p:nvGrpSpPr>
        <p:grpSpPr>
          <a:xfrm>
            <a:off x="977741" y="1982349"/>
            <a:ext cx="508158" cy="543805"/>
            <a:chOff x="0" y="0"/>
            <a:chExt cx="812800" cy="869819"/>
          </a:xfrm>
        </p:grpSpPr>
        <p:sp>
          <p:nvSpPr>
            <p:cNvPr id="21" name="Freeform 21"/>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2" name="TextBox 22"/>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23" name="Group 23"/>
          <p:cNvGrpSpPr/>
          <p:nvPr/>
        </p:nvGrpSpPr>
        <p:grpSpPr>
          <a:xfrm>
            <a:off x="977741" y="3983373"/>
            <a:ext cx="508158" cy="543805"/>
            <a:chOff x="0" y="0"/>
            <a:chExt cx="812800" cy="869819"/>
          </a:xfrm>
        </p:grpSpPr>
        <p:sp>
          <p:nvSpPr>
            <p:cNvPr id="24" name="Freeform 24"/>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5" name="TextBox 25"/>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26" name="Group 26"/>
          <p:cNvGrpSpPr/>
          <p:nvPr/>
        </p:nvGrpSpPr>
        <p:grpSpPr>
          <a:xfrm>
            <a:off x="977741" y="2648112"/>
            <a:ext cx="508158" cy="543805"/>
            <a:chOff x="0" y="0"/>
            <a:chExt cx="812800" cy="869819"/>
          </a:xfrm>
        </p:grpSpPr>
        <p:sp>
          <p:nvSpPr>
            <p:cNvPr id="27" name="Freeform 27"/>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8" name="TextBox 28"/>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29" name="Group 29"/>
          <p:cNvGrpSpPr/>
          <p:nvPr/>
        </p:nvGrpSpPr>
        <p:grpSpPr>
          <a:xfrm>
            <a:off x="977741" y="6425585"/>
            <a:ext cx="508158" cy="543805"/>
            <a:chOff x="0" y="0"/>
            <a:chExt cx="812800" cy="869819"/>
          </a:xfrm>
        </p:grpSpPr>
        <p:sp>
          <p:nvSpPr>
            <p:cNvPr id="30" name="Freeform 30"/>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1" name="TextBox 31"/>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32" name="Group 32"/>
          <p:cNvGrpSpPr/>
          <p:nvPr/>
        </p:nvGrpSpPr>
        <p:grpSpPr>
          <a:xfrm>
            <a:off x="977741" y="4651003"/>
            <a:ext cx="508158" cy="543805"/>
            <a:chOff x="0" y="0"/>
            <a:chExt cx="812800" cy="869819"/>
          </a:xfrm>
        </p:grpSpPr>
        <p:sp>
          <p:nvSpPr>
            <p:cNvPr id="33" name="Freeform 33"/>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4" name="TextBox 34"/>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37" name="Group 37"/>
          <p:cNvGrpSpPr/>
          <p:nvPr/>
        </p:nvGrpSpPr>
        <p:grpSpPr>
          <a:xfrm>
            <a:off x="977741" y="7093216"/>
            <a:ext cx="508158" cy="543805"/>
            <a:chOff x="0" y="0"/>
            <a:chExt cx="812800" cy="869819"/>
          </a:xfrm>
        </p:grpSpPr>
        <p:sp>
          <p:nvSpPr>
            <p:cNvPr id="38" name="Freeform 38"/>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9" name="TextBox 39"/>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8</a:t>
              </a:r>
            </a:p>
          </p:txBody>
        </p:sp>
      </p:grpSp>
      <p:grpSp>
        <p:nvGrpSpPr>
          <p:cNvPr id="40" name="Group 40"/>
          <p:cNvGrpSpPr/>
          <p:nvPr/>
        </p:nvGrpSpPr>
        <p:grpSpPr>
          <a:xfrm>
            <a:off x="977741" y="7760846"/>
            <a:ext cx="508158" cy="543805"/>
            <a:chOff x="0" y="0"/>
            <a:chExt cx="812800" cy="869819"/>
          </a:xfrm>
        </p:grpSpPr>
        <p:sp>
          <p:nvSpPr>
            <p:cNvPr id="41" name="Freeform 41"/>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42" name="TextBox 42"/>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46" name="Freeform 10">
            <a:extLst>
              <a:ext uri="{FF2B5EF4-FFF2-40B4-BE49-F238E27FC236}">
                <a16:creationId xmlns:a16="http://schemas.microsoft.com/office/drawing/2014/main" id="{3663A130-069F-2D83-78E7-4DA0FE7AAC6E}"/>
              </a:ext>
            </a:extLst>
          </p:cNvPr>
          <p:cNvSpPr/>
          <p:nvPr/>
        </p:nvSpPr>
        <p:spPr>
          <a:xfrm>
            <a:off x="16313420" y="910465"/>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a:extLst>
                <a:ext uri="{96DAC541-7B7A-43D3-8B79-37D633B846F1}">
                  <asvg:svgBlip xmlns:asvg="http://schemas.microsoft.com/office/drawing/2016/SVG/main" r:embed="rId2"/>
                </a:ext>
              </a:extLst>
            </a:blip>
            <a:stretch>
              <a:fillRect/>
            </a:stretch>
          </a:blipFill>
        </p:spPr>
      </p:sp>
      <p:sp>
        <p:nvSpPr>
          <p:cNvPr id="47" name="TextBox 46">
            <a:extLst>
              <a:ext uri="{FF2B5EF4-FFF2-40B4-BE49-F238E27FC236}">
                <a16:creationId xmlns:a16="http://schemas.microsoft.com/office/drawing/2014/main" id="{1B156733-A733-69AA-7523-59650E125994}"/>
              </a:ext>
            </a:extLst>
          </p:cNvPr>
          <p:cNvSpPr txBox="1"/>
          <p:nvPr/>
        </p:nvSpPr>
        <p:spPr>
          <a:xfrm>
            <a:off x="190500" y="315938"/>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WORKFLOW</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50" name="TextBox 49">
            <a:extLst>
              <a:ext uri="{FF2B5EF4-FFF2-40B4-BE49-F238E27FC236}">
                <a16:creationId xmlns:a16="http://schemas.microsoft.com/office/drawing/2014/main" id="{D04F3B99-A5D2-54DC-51CD-4E86A99D3EA2}"/>
              </a:ext>
            </a:extLst>
          </p:cNvPr>
          <p:cNvSpPr txBox="1"/>
          <p:nvPr/>
        </p:nvSpPr>
        <p:spPr>
          <a:xfrm>
            <a:off x="2173563" y="1813124"/>
            <a:ext cx="15082325" cy="4401205"/>
          </a:xfrm>
          <a:prstGeom prst="rect">
            <a:avLst/>
          </a:prstGeom>
          <a:noFill/>
        </p:spPr>
        <p:txBody>
          <a:bodyPr wrap="square" rtlCol="0">
            <a:spAutoFit/>
          </a:bodyPr>
          <a:lstStyle/>
          <a:p>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IN" sz="2800" dirty="0"/>
          </a:p>
        </p:txBody>
      </p:sp>
      <p:pic>
        <p:nvPicPr>
          <p:cNvPr id="4" name="Picture 3">
            <a:extLst>
              <a:ext uri="{FF2B5EF4-FFF2-40B4-BE49-F238E27FC236}">
                <a16:creationId xmlns:a16="http://schemas.microsoft.com/office/drawing/2014/main" id="{1D7A8C02-5C20-2B74-925C-B6B092D10F57}"/>
              </a:ext>
            </a:extLst>
          </p:cNvPr>
          <p:cNvPicPr>
            <a:picLocks noChangeAspect="1"/>
          </p:cNvPicPr>
          <p:nvPr/>
        </p:nvPicPr>
        <p:blipFill>
          <a:blip r:embed="rId3"/>
          <a:stretch>
            <a:fillRect/>
          </a:stretch>
        </p:blipFill>
        <p:spPr>
          <a:xfrm>
            <a:off x="6400800" y="1333500"/>
            <a:ext cx="5116091" cy="8495151"/>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grpSp>
        <p:nvGrpSpPr>
          <p:cNvPr id="19" name="Group 19"/>
          <p:cNvGrpSpPr/>
          <p:nvPr/>
        </p:nvGrpSpPr>
        <p:grpSpPr>
          <a:xfrm>
            <a:off x="735588" y="5976927"/>
            <a:ext cx="992463" cy="992463"/>
            <a:chOff x="0" y="0"/>
            <a:chExt cx="812800" cy="812800"/>
          </a:xfrm>
        </p:grpSpPr>
        <p:sp>
          <p:nvSpPr>
            <p:cNvPr id="20" name="Freeform 20"/>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sp>
        <p:sp>
          <p:nvSpPr>
            <p:cNvPr id="21" name="TextBox 21"/>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699">
                  <a:solidFill>
                    <a:srgbClr val="FFFEFE"/>
                  </a:solidFill>
                  <a:latin typeface="Gotham"/>
                  <a:ea typeface="Gotham"/>
                  <a:cs typeface="Gotham"/>
                  <a:sym typeface="Gotham"/>
                </a:rPr>
                <a:t>7</a:t>
              </a:r>
            </a:p>
          </p:txBody>
        </p:sp>
      </p:grpSp>
      <p:grpSp>
        <p:nvGrpSpPr>
          <p:cNvPr id="22" name="Group 22"/>
          <p:cNvGrpSpPr/>
          <p:nvPr/>
        </p:nvGrpSpPr>
        <p:grpSpPr>
          <a:xfrm>
            <a:off x="977741" y="3315742"/>
            <a:ext cx="508158" cy="543805"/>
            <a:chOff x="0" y="0"/>
            <a:chExt cx="812800" cy="869819"/>
          </a:xfrm>
        </p:grpSpPr>
        <p:sp>
          <p:nvSpPr>
            <p:cNvPr id="23" name="Freeform 23"/>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4" name="TextBox 24"/>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25" name="Group 25"/>
          <p:cNvGrpSpPr/>
          <p:nvPr/>
        </p:nvGrpSpPr>
        <p:grpSpPr>
          <a:xfrm>
            <a:off x="977741" y="1982349"/>
            <a:ext cx="508158" cy="543805"/>
            <a:chOff x="0" y="0"/>
            <a:chExt cx="812800" cy="869819"/>
          </a:xfrm>
        </p:grpSpPr>
        <p:sp>
          <p:nvSpPr>
            <p:cNvPr id="26" name="Freeform 26"/>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7" name="TextBox 27"/>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28" name="Group 28"/>
          <p:cNvGrpSpPr/>
          <p:nvPr/>
        </p:nvGrpSpPr>
        <p:grpSpPr>
          <a:xfrm>
            <a:off x="977741" y="3983373"/>
            <a:ext cx="508158" cy="543805"/>
            <a:chOff x="0" y="0"/>
            <a:chExt cx="812800" cy="869819"/>
          </a:xfrm>
        </p:grpSpPr>
        <p:sp>
          <p:nvSpPr>
            <p:cNvPr id="29" name="Freeform 29"/>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0" name="TextBox 30"/>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31" name="Group 31"/>
          <p:cNvGrpSpPr/>
          <p:nvPr/>
        </p:nvGrpSpPr>
        <p:grpSpPr>
          <a:xfrm>
            <a:off x="977741" y="2648112"/>
            <a:ext cx="508158" cy="543805"/>
            <a:chOff x="0" y="0"/>
            <a:chExt cx="812800" cy="869819"/>
          </a:xfrm>
        </p:grpSpPr>
        <p:sp>
          <p:nvSpPr>
            <p:cNvPr id="32" name="Freeform 32"/>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3" name="TextBox 33"/>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34" name="Group 34"/>
          <p:cNvGrpSpPr/>
          <p:nvPr/>
        </p:nvGrpSpPr>
        <p:grpSpPr>
          <a:xfrm>
            <a:off x="977741" y="5318634"/>
            <a:ext cx="508158" cy="543805"/>
            <a:chOff x="0" y="0"/>
            <a:chExt cx="812800" cy="869819"/>
          </a:xfrm>
        </p:grpSpPr>
        <p:sp>
          <p:nvSpPr>
            <p:cNvPr id="35" name="Freeform 35"/>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6" name="TextBox 36"/>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37" name="Group 37"/>
          <p:cNvGrpSpPr/>
          <p:nvPr/>
        </p:nvGrpSpPr>
        <p:grpSpPr>
          <a:xfrm>
            <a:off x="977741" y="4651003"/>
            <a:ext cx="508158" cy="543805"/>
            <a:chOff x="0" y="0"/>
            <a:chExt cx="812800" cy="869819"/>
          </a:xfrm>
        </p:grpSpPr>
        <p:sp>
          <p:nvSpPr>
            <p:cNvPr id="38" name="Freeform 38"/>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9" name="TextBox 39"/>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40" name="Group 40"/>
          <p:cNvGrpSpPr/>
          <p:nvPr/>
        </p:nvGrpSpPr>
        <p:grpSpPr>
          <a:xfrm>
            <a:off x="977741" y="7093216"/>
            <a:ext cx="508158" cy="543805"/>
            <a:chOff x="0" y="0"/>
            <a:chExt cx="812800" cy="869819"/>
          </a:xfrm>
        </p:grpSpPr>
        <p:sp>
          <p:nvSpPr>
            <p:cNvPr id="41" name="Freeform 41"/>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42" name="TextBox 42"/>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8</a:t>
              </a:r>
            </a:p>
          </p:txBody>
        </p:sp>
      </p:grpSp>
      <p:grpSp>
        <p:nvGrpSpPr>
          <p:cNvPr id="43" name="Group 43"/>
          <p:cNvGrpSpPr/>
          <p:nvPr/>
        </p:nvGrpSpPr>
        <p:grpSpPr>
          <a:xfrm>
            <a:off x="977741" y="7760846"/>
            <a:ext cx="508158" cy="543805"/>
            <a:chOff x="0" y="0"/>
            <a:chExt cx="812800" cy="869819"/>
          </a:xfrm>
        </p:grpSpPr>
        <p:sp>
          <p:nvSpPr>
            <p:cNvPr id="44" name="Freeform 44"/>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45" name="TextBox 45"/>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46" name="Freeform 10">
            <a:extLst>
              <a:ext uri="{FF2B5EF4-FFF2-40B4-BE49-F238E27FC236}">
                <a16:creationId xmlns:a16="http://schemas.microsoft.com/office/drawing/2014/main" id="{307389F6-23D0-83F6-DD02-F20D61DADE76}"/>
              </a:ext>
            </a:extLst>
          </p:cNvPr>
          <p:cNvSpPr/>
          <p:nvPr/>
        </p:nvSpPr>
        <p:spPr>
          <a:xfrm>
            <a:off x="16313420" y="910465"/>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a:extLst>
                <a:ext uri="{96DAC541-7B7A-43D3-8B79-37D633B846F1}">
                  <asvg:svgBlip xmlns:asvg="http://schemas.microsoft.com/office/drawing/2016/SVG/main" r:embed="rId2"/>
                </a:ext>
              </a:extLst>
            </a:blip>
            <a:stretch>
              <a:fillRect/>
            </a:stretch>
          </a:blipFill>
        </p:spPr>
      </p:sp>
      <p:sp>
        <p:nvSpPr>
          <p:cNvPr id="47" name="TextBox 46">
            <a:extLst>
              <a:ext uri="{FF2B5EF4-FFF2-40B4-BE49-F238E27FC236}">
                <a16:creationId xmlns:a16="http://schemas.microsoft.com/office/drawing/2014/main" id="{E4ED097B-FECF-66E6-2A98-0F8B4D948FC8}"/>
              </a:ext>
            </a:extLst>
          </p:cNvPr>
          <p:cNvSpPr txBox="1"/>
          <p:nvPr/>
        </p:nvSpPr>
        <p:spPr>
          <a:xfrm>
            <a:off x="152400" y="342900"/>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TECHNOLOGIES USED</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48" name="TextBox 47">
            <a:extLst>
              <a:ext uri="{FF2B5EF4-FFF2-40B4-BE49-F238E27FC236}">
                <a16:creationId xmlns:a16="http://schemas.microsoft.com/office/drawing/2014/main" id="{26E9F5F9-CCF8-6F05-4C01-034C88D7529E}"/>
              </a:ext>
            </a:extLst>
          </p:cNvPr>
          <p:cNvSpPr txBox="1"/>
          <p:nvPr/>
        </p:nvSpPr>
        <p:spPr>
          <a:xfrm>
            <a:off x="2470087" y="1945228"/>
            <a:ext cx="15082325" cy="12157174"/>
          </a:xfrm>
          <a:prstGeom prst="rect">
            <a:avLst/>
          </a:prstGeom>
          <a:noFill/>
        </p:spPr>
        <p:txBody>
          <a:bodyPr wrap="square" rtlCol="0">
            <a:spAutoFit/>
          </a:bodyPr>
          <a:lstStyle/>
          <a:p>
            <a:r>
              <a:rPr lang="en-US" sz="2800" b="1" dirty="0"/>
              <a:t>🔹 Frontend:</a:t>
            </a:r>
          </a:p>
          <a:p>
            <a:r>
              <a:rPr lang="en-US" sz="2800" dirty="0"/>
              <a:t>HTML, CSS, Bootstrap, and JavaScript are used to design the responsive user interface.</a:t>
            </a:r>
          </a:p>
          <a:p>
            <a:endParaRPr lang="en-US" sz="2800" dirty="0"/>
          </a:p>
          <a:p>
            <a:r>
              <a:rPr lang="en-US" sz="2800" b="1" dirty="0"/>
              <a:t>🔹 Backend:</a:t>
            </a:r>
          </a:p>
          <a:p>
            <a:r>
              <a:rPr lang="en-US" sz="2800" dirty="0"/>
              <a:t>JavaScript is used to handle cart operations like add, remove, update, and price calculation.</a:t>
            </a:r>
          </a:p>
          <a:p>
            <a:endParaRPr lang="en-US" sz="2800" dirty="0"/>
          </a:p>
          <a:p>
            <a:r>
              <a:rPr lang="en-US" sz="2800" b="1" dirty="0"/>
              <a:t>🔹 Database:</a:t>
            </a:r>
          </a:p>
          <a:p>
            <a:r>
              <a:rPr lang="en-US" sz="2800" dirty="0"/>
              <a:t>Local Storage is used to store cart data and maintain state persistence.</a:t>
            </a:r>
          </a:p>
          <a:p>
            <a:endParaRPr lang="en-US" sz="2800" dirty="0"/>
          </a:p>
          <a:p>
            <a:r>
              <a:rPr lang="en-US" sz="2800" b="1" dirty="0"/>
              <a:t>🔹 Tools:</a:t>
            </a:r>
          </a:p>
          <a:p>
            <a:r>
              <a:rPr lang="en-US" sz="2800" dirty="0"/>
              <a:t>VS Code for development and Google Chrome for testing and debugging.</a:t>
            </a:r>
          </a:p>
          <a:p>
            <a:endParaRPr lang="en-US" sz="2800" dirty="0"/>
          </a:p>
          <a:p>
            <a:r>
              <a:rPr lang="en-IN" sz="2800" b="1" dirty="0"/>
              <a:t>🔹 Hardware / Software Requirements:</a:t>
            </a:r>
          </a:p>
          <a:p>
            <a:r>
              <a:rPr lang="en-IN" sz="2800" b="1" dirty="0"/>
              <a:t>Hardware:</a:t>
            </a:r>
            <a:r>
              <a:rPr lang="en-IN" sz="2800" dirty="0"/>
              <a:t> Minimum 4GB RAM, i3 Processor or above, Basic Computer System.</a:t>
            </a:r>
          </a:p>
          <a:p>
            <a:r>
              <a:rPr lang="en-IN" sz="2800" b="1" dirty="0"/>
              <a:t>Software:</a:t>
            </a:r>
            <a:r>
              <a:rPr lang="en-IN" sz="2800" dirty="0"/>
              <a:t> Windows/Linux OS, Web Browser (Chrome/Edge), Code Editor (VS Code).</a:t>
            </a:r>
          </a:p>
          <a:p>
            <a:endParaRPr lang="en-US" sz="2800" dirty="0"/>
          </a:p>
          <a:p>
            <a:endParaRPr lang="en-US" sz="2800" dirty="0"/>
          </a:p>
          <a:p>
            <a:endParaRPr lang="en-US" sz="2800" dirty="0"/>
          </a:p>
          <a:p>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IN" sz="28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grpSp>
        <p:nvGrpSpPr>
          <p:cNvPr id="7" name="Group 7"/>
          <p:cNvGrpSpPr/>
          <p:nvPr/>
        </p:nvGrpSpPr>
        <p:grpSpPr>
          <a:xfrm>
            <a:off x="735588" y="6653894"/>
            <a:ext cx="992463" cy="992463"/>
            <a:chOff x="0" y="0"/>
            <a:chExt cx="812800" cy="812800"/>
          </a:xfrm>
        </p:grpSpPr>
        <p:sp>
          <p:nvSpPr>
            <p:cNvPr id="8" name="Freeform 8"/>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sp>
        <p:sp>
          <p:nvSpPr>
            <p:cNvPr id="9" name="TextBox 9"/>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699">
                  <a:solidFill>
                    <a:srgbClr val="FFFEFE"/>
                  </a:solidFill>
                  <a:latin typeface="Gotham"/>
                  <a:ea typeface="Gotham"/>
                  <a:cs typeface="Gotham"/>
                  <a:sym typeface="Gotham"/>
                </a:rPr>
                <a:t>8</a:t>
              </a:r>
            </a:p>
          </p:txBody>
        </p:sp>
      </p:grpSp>
      <p:grpSp>
        <p:nvGrpSpPr>
          <p:cNvPr id="10" name="Group 10"/>
          <p:cNvGrpSpPr/>
          <p:nvPr/>
        </p:nvGrpSpPr>
        <p:grpSpPr>
          <a:xfrm>
            <a:off x="977741" y="3315742"/>
            <a:ext cx="508158" cy="543805"/>
            <a:chOff x="0" y="0"/>
            <a:chExt cx="812800" cy="869819"/>
          </a:xfrm>
        </p:grpSpPr>
        <p:sp>
          <p:nvSpPr>
            <p:cNvPr id="11" name="Freeform 11"/>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2" name="TextBox 12"/>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13" name="Group 13"/>
          <p:cNvGrpSpPr/>
          <p:nvPr/>
        </p:nvGrpSpPr>
        <p:grpSpPr>
          <a:xfrm>
            <a:off x="977741" y="1982349"/>
            <a:ext cx="508158" cy="543805"/>
            <a:chOff x="0" y="0"/>
            <a:chExt cx="812800" cy="869819"/>
          </a:xfrm>
        </p:grpSpPr>
        <p:sp>
          <p:nvSpPr>
            <p:cNvPr id="14" name="Freeform 14"/>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5" name="TextBox 15"/>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16" name="Group 16"/>
          <p:cNvGrpSpPr/>
          <p:nvPr/>
        </p:nvGrpSpPr>
        <p:grpSpPr>
          <a:xfrm>
            <a:off x="977741" y="3983373"/>
            <a:ext cx="508158" cy="543805"/>
            <a:chOff x="0" y="0"/>
            <a:chExt cx="812800" cy="869819"/>
          </a:xfrm>
        </p:grpSpPr>
        <p:sp>
          <p:nvSpPr>
            <p:cNvPr id="17" name="Freeform 17"/>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8" name="TextBox 18"/>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19" name="Group 19"/>
          <p:cNvGrpSpPr/>
          <p:nvPr/>
        </p:nvGrpSpPr>
        <p:grpSpPr>
          <a:xfrm>
            <a:off x="977741" y="2648112"/>
            <a:ext cx="508158" cy="543805"/>
            <a:chOff x="0" y="0"/>
            <a:chExt cx="812800" cy="869819"/>
          </a:xfrm>
        </p:grpSpPr>
        <p:sp>
          <p:nvSpPr>
            <p:cNvPr id="20" name="Freeform 20"/>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1" name="TextBox 21"/>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22" name="Group 22"/>
          <p:cNvGrpSpPr/>
          <p:nvPr/>
        </p:nvGrpSpPr>
        <p:grpSpPr>
          <a:xfrm>
            <a:off x="977741" y="5318634"/>
            <a:ext cx="508158" cy="543805"/>
            <a:chOff x="0" y="0"/>
            <a:chExt cx="812800" cy="869819"/>
          </a:xfrm>
        </p:grpSpPr>
        <p:sp>
          <p:nvSpPr>
            <p:cNvPr id="23" name="Freeform 23"/>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4" name="TextBox 24"/>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25" name="Group 25"/>
          <p:cNvGrpSpPr/>
          <p:nvPr/>
        </p:nvGrpSpPr>
        <p:grpSpPr>
          <a:xfrm>
            <a:off x="977741" y="4651003"/>
            <a:ext cx="508158" cy="543805"/>
            <a:chOff x="0" y="0"/>
            <a:chExt cx="812800" cy="869819"/>
          </a:xfrm>
        </p:grpSpPr>
        <p:sp>
          <p:nvSpPr>
            <p:cNvPr id="26" name="Freeform 26"/>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7" name="TextBox 27"/>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28" name="Group 28"/>
          <p:cNvGrpSpPr/>
          <p:nvPr/>
        </p:nvGrpSpPr>
        <p:grpSpPr>
          <a:xfrm>
            <a:off x="977741" y="5986264"/>
            <a:ext cx="508158" cy="543805"/>
            <a:chOff x="0" y="0"/>
            <a:chExt cx="812800" cy="869819"/>
          </a:xfrm>
        </p:grpSpPr>
        <p:sp>
          <p:nvSpPr>
            <p:cNvPr id="29" name="Freeform 29"/>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0" name="TextBox 30"/>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31" name="Group 31"/>
          <p:cNvGrpSpPr/>
          <p:nvPr/>
        </p:nvGrpSpPr>
        <p:grpSpPr>
          <a:xfrm>
            <a:off x="977741" y="7760846"/>
            <a:ext cx="508158" cy="543805"/>
            <a:chOff x="0" y="0"/>
            <a:chExt cx="812800" cy="869819"/>
          </a:xfrm>
        </p:grpSpPr>
        <p:sp>
          <p:nvSpPr>
            <p:cNvPr id="32" name="Freeform 32"/>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3" name="TextBox 33"/>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34" name="Freeform 34"/>
          <p:cNvSpPr/>
          <p:nvPr/>
        </p:nvSpPr>
        <p:spPr>
          <a:xfrm>
            <a:off x="16313420" y="1028700"/>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a:extLst>
                <a:ext uri="{96DAC541-7B7A-43D3-8B79-37D633B846F1}">
                  <asvg:svgBlip xmlns:asvg="http://schemas.microsoft.com/office/drawing/2016/SVG/main" r:embed="rId2"/>
                </a:ext>
              </a:extLst>
            </a:blip>
            <a:stretch>
              <a:fillRect/>
            </a:stretch>
          </a:blipFill>
        </p:spPr>
      </p:sp>
      <p:grpSp>
        <p:nvGrpSpPr>
          <p:cNvPr id="35" name="Group 35"/>
          <p:cNvGrpSpPr/>
          <p:nvPr/>
        </p:nvGrpSpPr>
        <p:grpSpPr>
          <a:xfrm>
            <a:off x="17170670" y="-178579"/>
            <a:ext cx="10994424" cy="10994424"/>
            <a:chOff x="0" y="0"/>
            <a:chExt cx="812800" cy="812800"/>
          </a:xfrm>
        </p:grpSpPr>
        <p:sp>
          <p:nvSpPr>
            <p:cNvPr id="36" name="Freeform 36"/>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514350" cap="sq">
              <a:solidFill>
                <a:srgbClr val="FD6220">
                  <a:alpha val="11765"/>
                </a:srgbClr>
              </a:solidFill>
              <a:prstDash val="solid"/>
              <a:miter/>
            </a:ln>
          </p:spPr>
        </p:sp>
        <p:sp>
          <p:nvSpPr>
            <p:cNvPr id="37" name="TextBox 37"/>
            <p:cNvSpPr txBox="1"/>
            <p:nvPr/>
          </p:nvSpPr>
          <p:spPr>
            <a:xfrm>
              <a:off x="76200" y="47625"/>
              <a:ext cx="660400" cy="688975"/>
            </a:xfrm>
            <a:prstGeom prst="rect">
              <a:avLst/>
            </a:prstGeom>
          </p:spPr>
          <p:txBody>
            <a:bodyPr lIns="50800" tIns="50800" rIns="50800" bIns="50800" rtlCol="0" anchor="ctr"/>
            <a:lstStyle/>
            <a:p>
              <a:pPr algn="ctr">
                <a:lnSpc>
                  <a:spcPts val="2659"/>
                </a:lnSpc>
              </a:pPr>
              <a:endParaRPr/>
            </a:p>
          </p:txBody>
        </p:sp>
      </p:grpSp>
      <p:sp>
        <p:nvSpPr>
          <p:cNvPr id="43" name="TextBox 42">
            <a:extLst>
              <a:ext uri="{FF2B5EF4-FFF2-40B4-BE49-F238E27FC236}">
                <a16:creationId xmlns:a16="http://schemas.microsoft.com/office/drawing/2014/main" id="{9A1BCE7C-890E-A01E-691E-1D3D07CF6333}"/>
              </a:ext>
            </a:extLst>
          </p:cNvPr>
          <p:cNvSpPr txBox="1"/>
          <p:nvPr/>
        </p:nvSpPr>
        <p:spPr>
          <a:xfrm>
            <a:off x="152400" y="342900"/>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MODULE DESCRIPTION</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44" name="TextBox 43">
            <a:extLst>
              <a:ext uri="{FF2B5EF4-FFF2-40B4-BE49-F238E27FC236}">
                <a16:creationId xmlns:a16="http://schemas.microsoft.com/office/drawing/2014/main" id="{9304C197-EAC7-7A26-FAED-ED7302DBEC6E}"/>
              </a:ext>
            </a:extLst>
          </p:cNvPr>
          <p:cNvSpPr txBox="1"/>
          <p:nvPr/>
        </p:nvSpPr>
        <p:spPr>
          <a:xfrm>
            <a:off x="2209800" y="1638300"/>
            <a:ext cx="15082325" cy="9571851"/>
          </a:xfrm>
          <a:prstGeom prst="rect">
            <a:avLst/>
          </a:prstGeom>
          <a:noFill/>
        </p:spPr>
        <p:txBody>
          <a:bodyPr wrap="square" rtlCol="0">
            <a:spAutoFit/>
          </a:bodyPr>
          <a:lstStyle/>
          <a:p>
            <a:endParaRPr lang="en-IN" sz="2800" b="1" dirty="0"/>
          </a:p>
          <a:p>
            <a:r>
              <a:rPr lang="en-IN" sz="2800" b="1" dirty="0"/>
              <a:t>Module 1: User Interface</a:t>
            </a:r>
          </a:p>
          <a:p>
            <a:r>
              <a:rPr lang="en-US" sz="2800" dirty="0"/>
              <a:t>This module displays products and provides buttons for add to cart, remove, and update quantity.</a:t>
            </a:r>
            <a:br>
              <a:rPr lang="en-US" sz="2800" dirty="0"/>
            </a:br>
            <a:r>
              <a:rPr lang="en-US" sz="2800" dirty="0"/>
              <a:t>It ensures the website is responsive on mobile, tablet, and desktop devices.</a:t>
            </a:r>
            <a:endParaRPr lang="en-IN" sz="2800" dirty="0"/>
          </a:p>
          <a:p>
            <a:r>
              <a:rPr lang="en-IN" sz="2800" b="1" dirty="0"/>
              <a:t>Module 2: Product display</a:t>
            </a:r>
          </a:p>
          <a:p>
            <a:r>
              <a:rPr lang="en-US" sz="2800" dirty="0"/>
              <a:t>This module shows product details like name, price, and image.</a:t>
            </a:r>
            <a:br>
              <a:rPr lang="en-US" sz="2800" dirty="0"/>
            </a:br>
            <a:r>
              <a:rPr lang="en-US" sz="2800" dirty="0"/>
              <a:t>It organizes products in a clean and structured layout.</a:t>
            </a:r>
          </a:p>
          <a:p>
            <a:r>
              <a:rPr lang="en-IN" sz="2800" b="1" dirty="0"/>
              <a:t>Module 3: Cart Management</a:t>
            </a:r>
          </a:p>
          <a:p>
            <a:r>
              <a:rPr lang="en-US" sz="2800" dirty="0"/>
              <a:t>This module handles add, remove, and update cart operations.</a:t>
            </a:r>
            <a:br>
              <a:rPr lang="en-US" sz="2800" dirty="0"/>
            </a:br>
            <a:r>
              <a:rPr lang="en-US" sz="2800" dirty="0"/>
              <a:t>It also calculates the total price dynamically.</a:t>
            </a:r>
          </a:p>
          <a:p>
            <a:r>
              <a:rPr lang="en-IN" sz="2800" b="1" dirty="0"/>
              <a:t>Module 4: State persistence</a:t>
            </a:r>
          </a:p>
          <a:p>
            <a:r>
              <a:rPr lang="en-US" sz="2800" dirty="0"/>
              <a:t>This module stores cart data using </a:t>
            </a:r>
            <a:r>
              <a:rPr lang="en-US" sz="2800" dirty="0" err="1"/>
              <a:t>LocalStorage</a:t>
            </a:r>
            <a:r>
              <a:rPr lang="en-US" sz="2800" dirty="0"/>
              <a:t>.</a:t>
            </a:r>
            <a:br>
              <a:rPr lang="en-US" sz="2800" dirty="0"/>
            </a:br>
            <a:r>
              <a:rPr lang="en-US" sz="2800" dirty="0"/>
              <a:t>It restores cart items automatically after page refresh or browser restart.</a:t>
            </a:r>
            <a:endParaRPr lang="en-IN" sz="2800" dirty="0"/>
          </a:p>
          <a:p>
            <a:r>
              <a:rPr lang="en-IN" sz="2800" b="1" dirty="0"/>
              <a:t>Module 5:Data Handling</a:t>
            </a:r>
          </a:p>
          <a:p>
            <a:r>
              <a:rPr lang="en-US" sz="2800" dirty="0"/>
              <a:t>This module manages data flow between the interface and storage.</a:t>
            </a:r>
            <a:br>
              <a:rPr lang="en-US" sz="2800" dirty="0"/>
            </a:br>
            <a:r>
              <a:rPr lang="en-US" sz="2800" dirty="0"/>
              <a:t>It ensures proper updating and retrieval of cart information.</a:t>
            </a:r>
          </a:p>
          <a:p>
            <a:endParaRPr lang="en-IN" sz="2800" dirty="0"/>
          </a:p>
          <a:p>
            <a:endParaRPr lang="en-IN" sz="2800" dirty="0"/>
          </a:p>
          <a:p>
            <a:endParaRPr lang="en-IN" sz="2800" dirty="0"/>
          </a:p>
          <a:p>
            <a:endParaRPr lang="en-IN" sz="2800" dirty="0"/>
          </a:p>
          <a:p>
            <a:endParaRPr lang="en-IN" sz="2800" dirty="0"/>
          </a:p>
          <a:p>
            <a:endParaRPr lang="en-IN" sz="28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a:extLst>
            <a:ext uri="{FF2B5EF4-FFF2-40B4-BE49-F238E27FC236}">
              <a16:creationId xmlns:a16="http://schemas.microsoft.com/office/drawing/2014/main" id="{B7CF319D-58F2-DF9E-632A-90472F50FA3A}"/>
            </a:ext>
          </a:extLst>
        </p:cNvPr>
        <p:cNvGrpSpPr/>
        <p:nvPr/>
      </p:nvGrpSpPr>
      <p:grpSpPr>
        <a:xfrm>
          <a:off x="0" y="0"/>
          <a:ext cx="0" cy="0"/>
          <a:chOff x="0" y="0"/>
          <a:chExt cx="0" cy="0"/>
        </a:xfrm>
      </p:grpSpPr>
      <p:grpSp>
        <p:nvGrpSpPr>
          <p:cNvPr id="7" name="Group 7">
            <a:extLst>
              <a:ext uri="{FF2B5EF4-FFF2-40B4-BE49-F238E27FC236}">
                <a16:creationId xmlns:a16="http://schemas.microsoft.com/office/drawing/2014/main" id="{ADE101F0-A2BF-16E8-7BEC-541911EA9510}"/>
              </a:ext>
            </a:extLst>
          </p:cNvPr>
          <p:cNvGrpSpPr/>
          <p:nvPr/>
        </p:nvGrpSpPr>
        <p:grpSpPr>
          <a:xfrm>
            <a:off x="735588" y="6653894"/>
            <a:ext cx="992463" cy="992463"/>
            <a:chOff x="0" y="0"/>
            <a:chExt cx="812800" cy="812800"/>
          </a:xfrm>
        </p:grpSpPr>
        <p:sp>
          <p:nvSpPr>
            <p:cNvPr id="8" name="Freeform 8">
              <a:extLst>
                <a:ext uri="{FF2B5EF4-FFF2-40B4-BE49-F238E27FC236}">
                  <a16:creationId xmlns:a16="http://schemas.microsoft.com/office/drawing/2014/main" id="{C43B1E5B-104E-DCD5-F042-8DABFE8225A3}"/>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sp>
        <p:sp>
          <p:nvSpPr>
            <p:cNvPr id="9" name="TextBox 9">
              <a:extLst>
                <a:ext uri="{FF2B5EF4-FFF2-40B4-BE49-F238E27FC236}">
                  <a16:creationId xmlns:a16="http://schemas.microsoft.com/office/drawing/2014/main" id="{846A8601-B4CB-7C78-2833-947EEC356CD7}"/>
                </a:ext>
              </a:extLst>
            </p:cNvPr>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400" b="1" dirty="0">
                  <a:solidFill>
                    <a:srgbClr val="002060"/>
                  </a:solidFill>
                  <a:latin typeface="Gotham"/>
                  <a:ea typeface="Gotham"/>
                  <a:cs typeface="Gotham"/>
                  <a:sym typeface="Gotham"/>
                </a:rPr>
                <a:t>8(A)</a:t>
              </a:r>
            </a:p>
          </p:txBody>
        </p:sp>
      </p:grpSp>
      <p:grpSp>
        <p:nvGrpSpPr>
          <p:cNvPr id="10" name="Group 10">
            <a:extLst>
              <a:ext uri="{FF2B5EF4-FFF2-40B4-BE49-F238E27FC236}">
                <a16:creationId xmlns:a16="http://schemas.microsoft.com/office/drawing/2014/main" id="{1C63788E-DB35-987D-1A89-4C3F169DF70E}"/>
              </a:ext>
            </a:extLst>
          </p:cNvPr>
          <p:cNvGrpSpPr/>
          <p:nvPr/>
        </p:nvGrpSpPr>
        <p:grpSpPr>
          <a:xfrm>
            <a:off x="977741" y="3315742"/>
            <a:ext cx="508158" cy="543805"/>
            <a:chOff x="0" y="0"/>
            <a:chExt cx="812800" cy="869819"/>
          </a:xfrm>
        </p:grpSpPr>
        <p:sp>
          <p:nvSpPr>
            <p:cNvPr id="11" name="Freeform 11">
              <a:extLst>
                <a:ext uri="{FF2B5EF4-FFF2-40B4-BE49-F238E27FC236}">
                  <a16:creationId xmlns:a16="http://schemas.microsoft.com/office/drawing/2014/main" id="{676646B6-C6D6-F677-3CA9-56BE5CE444AA}"/>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2" name="TextBox 12">
              <a:extLst>
                <a:ext uri="{FF2B5EF4-FFF2-40B4-BE49-F238E27FC236}">
                  <a16:creationId xmlns:a16="http://schemas.microsoft.com/office/drawing/2014/main" id="{3CDDAA79-D530-F622-0CC8-ECE3E95F9520}"/>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13" name="Group 13">
            <a:extLst>
              <a:ext uri="{FF2B5EF4-FFF2-40B4-BE49-F238E27FC236}">
                <a16:creationId xmlns:a16="http://schemas.microsoft.com/office/drawing/2014/main" id="{8227745F-FD1B-7135-E88E-D6B924C5CB24}"/>
              </a:ext>
            </a:extLst>
          </p:cNvPr>
          <p:cNvGrpSpPr/>
          <p:nvPr/>
        </p:nvGrpSpPr>
        <p:grpSpPr>
          <a:xfrm>
            <a:off x="977741" y="1982349"/>
            <a:ext cx="508158" cy="543805"/>
            <a:chOff x="0" y="0"/>
            <a:chExt cx="812800" cy="869819"/>
          </a:xfrm>
        </p:grpSpPr>
        <p:sp>
          <p:nvSpPr>
            <p:cNvPr id="14" name="Freeform 14">
              <a:extLst>
                <a:ext uri="{FF2B5EF4-FFF2-40B4-BE49-F238E27FC236}">
                  <a16:creationId xmlns:a16="http://schemas.microsoft.com/office/drawing/2014/main" id="{79292FA3-A80E-1540-0024-754AADCDB015}"/>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5" name="TextBox 15">
              <a:extLst>
                <a:ext uri="{FF2B5EF4-FFF2-40B4-BE49-F238E27FC236}">
                  <a16:creationId xmlns:a16="http://schemas.microsoft.com/office/drawing/2014/main" id="{5A8C7117-591A-F089-5F54-0229077FDEA1}"/>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16" name="Group 16">
            <a:extLst>
              <a:ext uri="{FF2B5EF4-FFF2-40B4-BE49-F238E27FC236}">
                <a16:creationId xmlns:a16="http://schemas.microsoft.com/office/drawing/2014/main" id="{29278237-7990-A997-2285-EB2F5BB4EF44}"/>
              </a:ext>
            </a:extLst>
          </p:cNvPr>
          <p:cNvGrpSpPr/>
          <p:nvPr/>
        </p:nvGrpSpPr>
        <p:grpSpPr>
          <a:xfrm>
            <a:off x="977741" y="3983373"/>
            <a:ext cx="508158" cy="543805"/>
            <a:chOff x="0" y="0"/>
            <a:chExt cx="812800" cy="869819"/>
          </a:xfrm>
        </p:grpSpPr>
        <p:sp>
          <p:nvSpPr>
            <p:cNvPr id="17" name="Freeform 17">
              <a:extLst>
                <a:ext uri="{FF2B5EF4-FFF2-40B4-BE49-F238E27FC236}">
                  <a16:creationId xmlns:a16="http://schemas.microsoft.com/office/drawing/2014/main" id="{F37C1434-DB0E-53EF-4140-56A0F3CD6EAB}"/>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8" name="TextBox 18">
              <a:extLst>
                <a:ext uri="{FF2B5EF4-FFF2-40B4-BE49-F238E27FC236}">
                  <a16:creationId xmlns:a16="http://schemas.microsoft.com/office/drawing/2014/main" id="{4FC388C1-59EC-CA17-BA41-9AF3AAD42D8B}"/>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19" name="Group 19">
            <a:extLst>
              <a:ext uri="{FF2B5EF4-FFF2-40B4-BE49-F238E27FC236}">
                <a16:creationId xmlns:a16="http://schemas.microsoft.com/office/drawing/2014/main" id="{90F65A21-E49B-9858-6EAD-EBC3142E6239}"/>
              </a:ext>
            </a:extLst>
          </p:cNvPr>
          <p:cNvGrpSpPr/>
          <p:nvPr/>
        </p:nvGrpSpPr>
        <p:grpSpPr>
          <a:xfrm>
            <a:off x="977741" y="2648112"/>
            <a:ext cx="508158" cy="543805"/>
            <a:chOff x="0" y="0"/>
            <a:chExt cx="812800" cy="869819"/>
          </a:xfrm>
        </p:grpSpPr>
        <p:sp>
          <p:nvSpPr>
            <p:cNvPr id="20" name="Freeform 20">
              <a:extLst>
                <a:ext uri="{FF2B5EF4-FFF2-40B4-BE49-F238E27FC236}">
                  <a16:creationId xmlns:a16="http://schemas.microsoft.com/office/drawing/2014/main" id="{EFDE14F0-9F59-E35F-B5B7-45C77C563545}"/>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1" name="TextBox 21">
              <a:extLst>
                <a:ext uri="{FF2B5EF4-FFF2-40B4-BE49-F238E27FC236}">
                  <a16:creationId xmlns:a16="http://schemas.microsoft.com/office/drawing/2014/main" id="{E1181869-B448-2B7A-67F5-160B09C76D91}"/>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22" name="Group 22">
            <a:extLst>
              <a:ext uri="{FF2B5EF4-FFF2-40B4-BE49-F238E27FC236}">
                <a16:creationId xmlns:a16="http://schemas.microsoft.com/office/drawing/2014/main" id="{8B27AB66-420C-E7D0-5891-910B564CA2C2}"/>
              </a:ext>
            </a:extLst>
          </p:cNvPr>
          <p:cNvGrpSpPr/>
          <p:nvPr/>
        </p:nvGrpSpPr>
        <p:grpSpPr>
          <a:xfrm>
            <a:off x="977741" y="5318634"/>
            <a:ext cx="508158" cy="543805"/>
            <a:chOff x="0" y="0"/>
            <a:chExt cx="812800" cy="869819"/>
          </a:xfrm>
        </p:grpSpPr>
        <p:sp>
          <p:nvSpPr>
            <p:cNvPr id="23" name="Freeform 23">
              <a:extLst>
                <a:ext uri="{FF2B5EF4-FFF2-40B4-BE49-F238E27FC236}">
                  <a16:creationId xmlns:a16="http://schemas.microsoft.com/office/drawing/2014/main" id="{F0605CE2-624E-D2DA-6357-65C5FA138C6C}"/>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4" name="TextBox 24">
              <a:extLst>
                <a:ext uri="{FF2B5EF4-FFF2-40B4-BE49-F238E27FC236}">
                  <a16:creationId xmlns:a16="http://schemas.microsoft.com/office/drawing/2014/main" id="{DA9B1286-A8A4-091B-5AF9-F0B275F703E9}"/>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25" name="Group 25">
            <a:extLst>
              <a:ext uri="{FF2B5EF4-FFF2-40B4-BE49-F238E27FC236}">
                <a16:creationId xmlns:a16="http://schemas.microsoft.com/office/drawing/2014/main" id="{127DF020-AEA7-8D57-9411-90D58D65D05B}"/>
              </a:ext>
            </a:extLst>
          </p:cNvPr>
          <p:cNvGrpSpPr/>
          <p:nvPr/>
        </p:nvGrpSpPr>
        <p:grpSpPr>
          <a:xfrm>
            <a:off x="977741" y="4651003"/>
            <a:ext cx="508158" cy="543805"/>
            <a:chOff x="0" y="0"/>
            <a:chExt cx="812800" cy="869819"/>
          </a:xfrm>
        </p:grpSpPr>
        <p:sp>
          <p:nvSpPr>
            <p:cNvPr id="26" name="Freeform 26">
              <a:extLst>
                <a:ext uri="{FF2B5EF4-FFF2-40B4-BE49-F238E27FC236}">
                  <a16:creationId xmlns:a16="http://schemas.microsoft.com/office/drawing/2014/main" id="{00BA2729-D580-CF8D-87CD-EE786F2E40E1}"/>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7" name="TextBox 27">
              <a:extLst>
                <a:ext uri="{FF2B5EF4-FFF2-40B4-BE49-F238E27FC236}">
                  <a16:creationId xmlns:a16="http://schemas.microsoft.com/office/drawing/2014/main" id="{F0B6F8BA-7047-AE2A-DB03-E6846F9FAEAB}"/>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28" name="Group 28">
            <a:extLst>
              <a:ext uri="{FF2B5EF4-FFF2-40B4-BE49-F238E27FC236}">
                <a16:creationId xmlns:a16="http://schemas.microsoft.com/office/drawing/2014/main" id="{B5DE7324-71F9-1D79-AB1E-F97481653389}"/>
              </a:ext>
            </a:extLst>
          </p:cNvPr>
          <p:cNvGrpSpPr/>
          <p:nvPr/>
        </p:nvGrpSpPr>
        <p:grpSpPr>
          <a:xfrm>
            <a:off x="977741" y="5986264"/>
            <a:ext cx="508158" cy="543805"/>
            <a:chOff x="0" y="0"/>
            <a:chExt cx="812800" cy="869819"/>
          </a:xfrm>
        </p:grpSpPr>
        <p:sp>
          <p:nvSpPr>
            <p:cNvPr id="29" name="Freeform 29">
              <a:extLst>
                <a:ext uri="{FF2B5EF4-FFF2-40B4-BE49-F238E27FC236}">
                  <a16:creationId xmlns:a16="http://schemas.microsoft.com/office/drawing/2014/main" id="{E780ED4E-44DF-E344-CCEA-834D1374F6A5}"/>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0" name="TextBox 30">
              <a:extLst>
                <a:ext uri="{FF2B5EF4-FFF2-40B4-BE49-F238E27FC236}">
                  <a16:creationId xmlns:a16="http://schemas.microsoft.com/office/drawing/2014/main" id="{AC7D9CD8-E54E-AD67-D59B-5D4A37A1B415}"/>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31" name="Group 31">
            <a:extLst>
              <a:ext uri="{FF2B5EF4-FFF2-40B4-BE49-F238E27FC236}">
                <a16:creationId xmlns:a16="http://schemas.microsoft.com/office/drawing/2014/main" id="{E3560347-DE50-10F7-9905-7228E593D280}"/>
              </a:ext>
            </a:extLst>
          </p:cNvPr>
          <p:cNvGrpSpPr/>
          <p:nvPr/>
        </p:nvGrpSpPr>
        <p:grpSpPr>
          <a:xfrm>
            <a:off x="977741" y="7760846"/>
            <a:ext cx="508158" cy="543805"/>
            <a:chOff x="0" y="0"/>
            <a:chExt cx="812800" cy="869819"/>
          </a:xfrm>
        </p:grpSpPr>
        <p:sp>
          <p:nvSpPr>
            <p:cNvPr id="32" name="Freeform 32">
              <a:extLst>
                <a:ext uri="{FF2B5EF4-FFF2-40B4-BE49-F238E27FC236}">
                  <a16:creationId xmlns:a16="http://schemas.microsoft.com/office/drawing/2014/main" id="{1B9E463A-B010-8D72-6350-7242CB0AAF56}"/>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3" name="TextBox 33">
              <a:extLst>
                <a:ext uri="{FF2B5EF4-FFF2-40B4-BE49-F238E27FC236}">
                  <a16:creationId xmlns:a16="http://schemas.microsoft.com/office/drawing/2014/main" id="{C15BE220-858E-1446-5B56-D3329A06A997}"/>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34" name="Freeform 34">
            <a:extLst>
              <a:ext uri="{FF2B5EF4-FFF2-40B4-BE49-F238E27FC236}">
                <a16:creationId xmlns:a16="http://schemas.microsoft.com/office/drawing/2014/main" id="{98F156A3-70B1-1344-389E-4B3C64CA921F}"/>
              </a:ext>
            </a:extLst>
          </p:cNvPr>
          <p:cNvSpPr/>
          <p:nvPr/>
        </p:nvSpPr>
        <p:spPr>
          <a:xfrm>
            <a:off x="16313420" y="1028700"/>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a:extLst>
                <a:ext uri="{96DAC541-7B7A-43D3-8B79-37D633B846F1}">
                  <asvg:svgBlip xmlns:asvg="http://schemas.microsoft.com/office/drawing/2016/SVG/main" r:embed="rId2"/>
                </a:ext>
              </a:extLst>
            </a:blip>
            <a:stretch>
              <a:fillRect/>
            </a:stretch>
          </a:blipFill>
        </p:spPr>
      </p:sp>
      <p:grpSp>
        <p:nvGrpSpPr>
          <p:cNvPr id="35" name="Group 35">
            <a:extLst>
              <a:ext uri="{FF2B5EF4-FFF2-40B4-BE49-F238E27FC236}">
                <a16:creationId xmlns:a16="http://schemas.microsoft.com/office/drawing/2014/main" id="{A36A5C58-00A3-2FE9-36E4-D92AAF44A0F5}"/>
              </a:ext>
            </a:extLst>
          </p:cNvPr>
          <p:cNvGrpSpPr/>
          <p:nvPr/>
        </p:nvGrpSpPr>
        <p:grpSpPr>
          <a:xfrm>
            <a:off x="17170670" y="-178579"/>
            <a:ext cx="10994424" cy="10994424"/>
            <a:chOff x="0" y="0"/>
            <a:chExt cx="812800" cy="812800"/>
          </a:xfrm>
        </p:grpSpPr>
        <p:sp>
          <p:nvSpPr>
            <p:cNvPr id="36" name="Freeform 36">
              <a:extLst>
                <a:ext uri="{FF2B5EF4-FFF2-40B4-BE49-F238E27FC236}">
                  <a16:creationId xmlns:a16="http://schemas.microsoft.com/office/drawing/2014/main" id="{BADF0EED-F663-F70E-9BB3-C0F576114D01}"/>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514350" cap="sq">
              <a:solidFill>
                <a:srgbClr val="FD6220">
                  <a:alpha val="11765"/>
                </a:srgbClr>
              </a:solidFill>
              <a:prstDash val="solid"/>
              <a:miter/>
            </a:ln>
          </p:spPr>
        </p:sp>
        <p:sp>
          <p:nvSpPr>
            <p:cNvPr id="37" name="TextBox 37">
              <a:extLst>
                <a:ext uri="{FF2B5EF4-FFF2-40B4-BE49-F238E27FC236}">
                  <a16:creationId xmlns:a16="http://schemas.microsoft.com/office/drawing/2014/main" id="{54542349-F329-7DA6-DBD4-7EFA939B9892}"/>
                </a:ext>
              </a:extLst>
            </p:cNvPr>
            <p:cNvSpPr txBox="1"/>
            <p:nvPr/>
          </p:nvSpPr>
          <p:spPr>
            <a:xfrm>
              <a:off x="76200" y="47625"/>
              <a:ext cx="660400" cy="688975"/>
            </a:xfrm>
            <a:prstGeom prst="rect">
              <a:avLst/>
            </a:prstGeom>
          </p:spPr>
          <p:txBody>
            <a:bodyPr lIns="50800" tIns="50800" rIns="50800" bIns="50800" rtlCol="0" anchor="ctr"/>
            <a:lstStyle/>
            <a:p>
              <a:pPr algn="ctr">
                <a:lnSpc>
                  <a:spcPts val="2659"/>
                </a:lnSpc>
              </a:pPr>
              <a:endParaRPr/>
            </a:p>
          </p:txBody>
        </p:sp>
      </p:grpSp>
      <p:sp>
        <p:nvSpPr>
          <p:cNvPr id="43" name="TextBox 42">
            <a:extLst>
              <a:ext uri="{FF2B5EF4-FFF2-40B4-BE49-F238E27FC236}">
                <a16:creationId xmlns:a16="http://schemas.microsoft.com/office/drawing/2014/main" id="{B6CAD810-8433-9B89-E144-29986E25063F}"/>
              </a:ext>
            </a:extLst>
          </p:cNvPr>
          <p:cNvSpPr txBox="1"/>
          <p:nvPr/>
        </p:nvSpPr>
        <p:spPr>
          <a:xfrm>
            <a:off x="152400" y="342900"/>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IMPLEMENTATION SCREENSHOTS</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4" name="Text Placeholder 3">
            <a:extLst>
              <a:ext uri="{FF2B5EF4-FFF2-40B4-BE49-F238E27FC236}">
                <a16:creationId xmlns:a16="http://schemas.microsoft.com/office/drawing/2014/main" id="{F710C832-A47D-7E2D-F109-4DB70B82036D}"/>
              </a:ext>
            </a:extLst>
          </p:cNvPr>
          <p:cNvSpPr>
            <a:spLocks noGrp="1"/>
          </p:cNvSpPr>
          <p:nvPr>
            <p:ph type="body" sz="half" idx="2"/>
          </p:nvPr>
        </p:nvSpPr>
        <p:spPr>
          <a:xfrm>
            <a:off x="4551459" y="11544300"/>
            <a:ext cx="10591800" cy="830997"/>
          </a:xfrm>
        </p:spPr>
        <p:txBody>
          <a:bodyPr>
            <a:normAutofit/>
          </a:bodyPr>
          <a:lstStyle/>
          <a:p>
            <a:pPr marL="285750" indent="-285750">
              <a:buFont typeface="Arial" panose="020B0604020202020204" pitchFamily="34" charset="0"/>
              <a:buChar char="•"/>
            </a:pPr>
            <a:endParaRPr lang="en-IN" sz="2400" b="1" dirty="0"/>
          </a:p>
        </p:txBody>
      </p:sp>
      <p:pic>
        <p:nvPicPr>
          <p:cNvPr id="6" name="Picture Placeholder 5">
            <a:extLst>
              <a:ext uri="{FF2B5EF4-FFF2-40B4-BE49-F238E27FC236}">
                <a16:creationId xmlns:a16="http://schemas.microsoft.com/office/drawing/2014/main" id="{1F8505A2-D9FF-4FF5-D0F9-BB73FCF2CA21}"/>
              </a:ext>
            </a:extLst>
          </p:cNvPr>
          <p:cNvPicPr>
            <a:picLocks noGrp="1" noChangeAspect="1"/>
          </p:cNvPicPr>
          <p:nvPr>
            <p:ph type="pic" idx="1"/>
          </p:nvPr>
        </p:nvPicPr>
        <p:blipFill>
          <a:blip r:embed="rId3">
            <a:extLst>
              <a:ext uri="{28A0092B-C50C-407E-A947-70E740481C1C}">
                <a14:useLocalDpi xmlns:a14="http://schemas.microsoft.com/office/drawing/2010/main" val="0"/>
              </a:ext>
            </a:extLst>
          </a:blip>
          <a:srcRect l="-461" t="-815" r="461" b="815"/>
          <a:stretch>
            <a:fillRect/>
          </a:stretch>
        </p:blipFill>
        <p:spPr>
          <a:xfrm>
            <a:off x="1847051" y="1082623"/>
            <a:ext cx="8026265" cy="6019699"/>
          </a:xfrm>
          <a:prstGeom prst="rect">
            <a:avLst/>
          </a:prstGeom>
        </p:spPr>
      </p:pic>
      <p:pic>
        <p:nvPicPr>
          <p:cNvPr id="38" name="Picture 37">
            <a:extLst>
              <a:ext uri="{FF2B5EF4-FFF2-40B4-BE49-F238E27FC236}">
                <a16:creationId xmlns:a16="http://schemas.microsoft.com/office/drawing/2014/main" id="{477EC195-0C53-FDBA-22DA-4ACAFE39B00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182554" y="3919061"/>
            <a:ext cx="8096240" cy="5928426"/>
          </a:xfrm>
          <a:prstGeom prst="rect">
            <a:avLst/>
          </a:prstGeom>
        </p:spPr>
      </p:pic>
    </p:spTree>
    <p:extLst>
      <p:ext uri="{BB962C8B-B14F-4D97-AF65-F5344CB8AC3E}">
        <p14:creationId xmlns:p14="http://schemas.microsoft.com/office/powerpoint/2010/main" val="398118739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a:extLst>
            <a:ext uri="{FF2B5EF4-FFF2-40B4-BE49-F238E27FC236}">
              <a16:creationId xmlns:a16="http://schemas.microsoft.com/office/drawing/2014/main" id="{C0F4F051-5473-4E78-FEB2-59A87A5FBB9B}"/>
            </a:ext>
          </a:extLst>
        </p:cNvPr>
        <p:cNvGrpSpPr/>
        <p:nvPr/>
      </p:nvGrpSpPr>
      <p:grpSpPr>
        <a:xfrm>
          <a:off x="0" y="0"/>
          <a:ext cx="0" cy="0"/>
          <a:chOff x="0" y="0"/>
          <a:chExt cx="0" cy="0"/>
        </a:xfrm>
      </p:grpSpPr>
      <p:grpSp>
        <p:nvGrpSpPr>
          <p:cNvPr id="7" name="Group 7">
            <a:extLst>
              <a:ext uri="{FF2B5EF4-FFF2-40B4-BE49-F238E27FC236}">
                <a16:creationId xmlns:a16="http://schemas.microsoft.com/office/drawing/2014/main" id="{66BE183E-F015-FFD4-5C84-C25B4DCE490A}"/>
              </a:ext>
            </a:extLst>
          </p:cNvPr>
          <p:cNvGrpSpPr/>
          <p:nvPr/>
        </p:nvGrpSpPr>
        <p:grpSpPr>
          <a:xfrm>
            <a:off x="735588" y="6653894"/>
            <a:ext cx="992463" cy="992463"/>
            <a:chOff x="0" y="0"/>
            <a:chExt cx="812800" cy="812800"/>
          </a:xfrm>
        </p:grpSpPr>
        <p:sp>
          <p:nvSpPr>
            <p:cNvPr id="8" name="Freeform 8">
              <a:extLst>
                <a:ext uri="{FF2B5EF4-FFF2-40B4-BE49-F238E27FC236}">
                  <a16:creationId xmlns:a16="http://schemas.microsoft.com/office/drawing/2014/main" id="{3AEC1772-D597-ACC7-7EF1-FF0460F37AA7}"/>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sp>
        <p:sp>
          <p:nvSpPr>
            <p:cNvPr id="9" name="TextBox 9">
              <a:extLst>
                <a:ext uri="{FF2B5EF4-FFF2-40B4-BE49-F238E27FC236}">
                  <a16:creationId xmlns:a16="http://schemas.microsoft.com/office/drawing/2014/main" id="{46839344-8B05-5C56-F0B1-64E24F458991}"/>
                </a:ext>
              </a:extLst>
            </p:cNvPr>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400" b="1" dirty="0">
                  <a:solidFill>
                    <a:srgbClr val="002060"/>
                  </a:solidFill>
                  <a:latin typeface="Gotham"/>
                  <a:ea typeface="Gotham"/>
                  <a:cs typeface="Gotham"/>
                  <a:sym typeface="Gotham"/>
                </a:rPr>
                <a:t>8(B)</a:t>
              </a:r>
            </a:p>
          </p:txBody>
        </p:sp>
      </p:grpSp>
      <p:grpSp>
        <p:nvGrpSpPr>
          <p:cNvPr id="10" name="Group 10">
            <a:extLst>
              <a:ext uri="{FF2B5EF4-FFF2-40B4-BE49-F238E27FC236}">
                <a16:creationId xmlns:a16="http://schemas.microsoft.com/office/drawing/2014/main" id="{23B54700-9ABF-8EDD-8B21-24A9248C534D}"/>
              </a:ext>
            </a:extLst>
          </p:cNvPr>
          <p:cNvGrpSpPr/>
          <p:nvPr/>
        </p:nvGrpSpPr>
        <p:grpSpPr>
          <a:xfrm>
            <a:off x="977741" y="3315742"/>
            <a:ext cx="508158" cy="543805"/>
            <a:chOff x="0" y="0"/>
            <a:chExt cx="812800" cy="869819"/>
          </a:xfrm>
        </p:grpSpPr>
        <p:sp>
          <p:nvSpPr>
            <p:cNvPr id="11" name="Freeform 11">
              <a:extLst>
                <a:ext uri="{FF2B5EF4-FFF2-40B4-BE49-F238E27FC236}">
                  <a16:creationId xmlns:a16="http://schemas.microsoft.com/office/drawing/2014/main" id="{B99246F8-F6B5-2F2E-2FB4-FAE1DD41DCC4}"/>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2" name="TextBox 12">
              <a:extLst>
                <a:ext uri="{FF2B5EF4-FFF2-40B4-BE49-F238E27FC236}">
                  <a16:creationId xmlns:a16="http://schemas.microsoft.com/office/drawing/2014/main" id="{B7CDDD7B-8A9B-223F-951A-473D0C9404F3}"/>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13" name="Group 13">
            <a:extLst>
              <a:ext uri="{FF2B5EF4-FFF2-40B4-BE49-F238E27FC236}">
                <a16:creationId xmlns:a16="http://schemas.microsoft.com/office/drawing/2014/main" id="{B3E1A8FC-D0F1-BD05-9C14-C10EAE95E57E}"/>
              </a:ext>
            </a:extLst>
          </p:cNvPr>
          <p:cNvGrpSpPr/>
          <p:nvPr/>
        </p:nvGrpSpPr>
        <p:grpSpPr>
          <a:xfrm>
            <a:off x="977741" y="1982349"/>
            <a:ext cx="508158" cy="543805"/>
            <a:chOff x="0" y="0"/>
            <a:chExt cx="812800" cy="869819"/>
          </a:xfrm>
        </p:grpSpPr>
        <p:sp>
          <p:nvSpPr>
            <p:cNvPr id="14" name="Freeform 14">
              <a:extLst>
                <a:ext uri="{FF2B5EF4-FFF2-40B4-BE49-F238E27FC236}">
                  <a16:creationId xmlns:a16="http://schemas.microsoft.com/office/drawing/2014/main" id="{CEB5FB4E-3BF3-BC6A-6692-FE375141E45D}"/>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5" name="TextBox 15">
              <a:extLst>
                <a:ext uri="{FF2B5EF4-FFF2-40B4-BE49-F238E27FC236}">
                  <a16:creationId xmlns:a16="http://schemas.microsoft.com/office/drawing/2014/main" id="{38F8F103-F0A5-8F95-A139-8DBEBEF19C28}"/>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16" name="Group 16">
            <a:extLst>
              <a:ext uri="{FF2B5EF4-FFF2-40B4-BE49-F238E27FC236}">
                <a16:creationId xmlns:a16="http://schemas.microsoft.com/office/drawing/2014/main" id="{8C558648-2D59-16EB-3098-EAF5DE978B1F}"/>
              </a:ext>
            </a:extLst>
          </p:cNvPr>
          <p:cNvGrpSpPr/>
          <p:nvPr/>
        </p:nvGrpSpPr>
        <p:grpSpPr>
          <a:xfrm>
            <a:off x="977741" y="3983373"/>
            <a:ext cx="508158" cy="543805"/>
            <a:chOff x="0" y="0"/>
            <a:chExt cx="812800" cy="869819"/>
          </a:xfrm>
        </p:grpSpPr>
        <p:sp>
          <p:nvSpPr>
            <p:cNvPr id="17" name="Freeform 17">
              <a:extLst>
                <a:ext uri="{FF2B5EF4-FFF2-40B4-BE49-F238E27FC236}">
                  <a16:creationId xmlns:a16="http://schemas.microsoft.com/office/drawing/2014/main" id="{B168779D-5467-4E78-AD1E-36B5A75A3474}"/>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8" name="TextBox 18">
              <a:extLst>
                <a:ext uri="{FF2B5EF4-FFF2-40B4-BE49-F238E27FC236}">
                  <a16:creationId xmlns:a16="http://schemas.microsoft.com/office/drawing/2014/main" id="{8AFC0BB4-20A4-849D-A1E4-FA90A8DDCC7D}"/>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19" name="Group 19">
            <a:extLst>
              <a:ext uri="{FF2B5EF4-FFF2-40B4-BE49-F238E27FC236}">
                <a16:creationId xmlns:a16="http://schemas.microsoft.com/office/drawing/2014/main" id="{700D33AC-D53D-0E96-8752-E5DA06AE57A5}"/>
              </a:ext>
            </a:extLst>
          </p:cNvPr>
          <p:cNvGrpSpPr/>
          <p:nvPr/>
        </p:nvGrpSpPr>
        <p:grpSpPr>
          <a:xfrm>
            <a:off x="977741" y="2648112"/>
            <a:ext cx="508158" cy="543805"/>
            <a:chOff x="0" y="0"/>
            <a:chExt cx="812800" cy="869819"/>
          </a:xfrm>
        </p:grpSpPr>
        <p:sp>
          <p:nvSpPr>
            <p:cNvPr id="20" name="Freeform 20">
              <a:extLst>
                <a:ext uri="{FF2B5EF4-FFF2-40B4-BE49-F238E27FC236}">
                  <a16:creationId xmlns:a16="http://schemas.microsoft.com/office/drawing/2014/main" id="{14DABAFB-38B3-CE49-B21D-A496D7EC2A6E}"/>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1" name="TextBox 21">
              <a:extLst>
                <a:ext uri="{FF2B5EF4-FFF2-40B4-BE49-F238E27FC236}">
                  <a16:creationId xmlns:a16="http://schemas.microsoft.com/office/drawing/2014/main" id="{BE27A610-3BC0-BFBC-2A61-4C157B024EF0}"/>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22" name="Group 22">
            <a:extLst>
              <a:ext uri="{FF2B5EF4-FFF2-40B4-BE49-F238E27FC236}">
                <a16:creationId xmlns:a16="http://schemas.microsoft.com/office/drawing/2014/main" id="{6C0E28B4-531C-D2E1-F3C9-B5A98A28B69D}"/>
              </a:ext>
            </a:extLst>
          </p:cNvPr>
          <p:cNvGrpSpPr/>
          <p:nvPr/>
        </p:nvGrpSpPr>
        <p:grpSpPr>
          <a:xfrm>
            <a:off x="977741" y="5318634"/>
            <a:ext cx="508158" cy="543805"/>
            <a:chOff x="0" y="0"/>
            <a:chExt cx="812800" cy="869819"/>
          </a:xfrm>
        </p:grpSpPr>
        <p:sp>
          <p:nvSpPr>
            <p:cNvPr id="23" name="Freeform 23">
              <a:extLst>
                <a:ext uri="{FF2B5EF4-FFF2-40B4-BE49-F238E27FC236}">
                  <a16:creationId xmlns:a16="http://schemas.microsoft.com/office/drawing/2014/main" id="{6C193347-3923-7F1F-A580-A7462B158EC5}"/>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4" name="TextBox 24">
              <a:extLst>
                <a:ext uri="{FF2B5EF4-FFF2-40B4-BE49-F238E27FC236}">
                  <a16:creationId xmlns:a16="http://schemas.microsoft.com/office/drawing/2014/main" id="{C5DDC20D-7BD0-E255-26F1-86A88AF67CF5}"/>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25" name="Group 25">
            <a:extLst>
              <a:ext uri="{FF2B5EF4-FFF2-40B4-BE49-F238E27FC236}">
                <a16:creationId xmlns:a16="http://schemas.microsoft.com/office/drawing/2014/main" id="{9DBB21A1-CAFF-686E-D181-980219283F79}"/>
              </a:ext>
            </a:extLst>
          </p:cNvPr>
          <p:cNvGrpSpPr/>
          <p:nvPr/>
        </p:nvGrpSpPr>
        <p:grpSpPr>
          <a:xfrm>
            <a:off x="977741" y="4651003"/>
            <a:ext cx="508158" cy="543805"/>
            <a:chOff x="0" y="0"/>
            <a:chExt cx="812800" cy="869819"/>
          </a:xfrm>
        </p:grpSpPr>
        <p:sp>
          <p:nvSpPr>
            <p:cNvPr id="26" name="Freeform 26">
              <a:extLst>
                <a:ext uri="{FF2B5EF4-FFF2-40B4-BE49-F238E27FC236}">
                  <a16:creationId xmlns:a16="http://schemas.microsoft.com/office/drawing/2014/main" id="{5531A9C5-B561-53EA-BF9A-3BE6A607C1BF}"/>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7" name="TextBox 27">
              <a:extLst>
                <a:ext uri="{FF2B5EF4-FFF2-40B4-BE49-F238E27FC236}">
                  <a16:creationId xmlns:a16="http://schemas.microsoft.com/office/drawing/2014/main" id="{D8870C21-3327-4D63-FD34-36BC47996758}"/>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28" name="Group 28">
            <a:extLst>
              <a:ext uri="{FF2B5EF4-FFF2-40B4-BE49-F238E27FC236}">
                <a16:creationId xmlns:a16="http://schemas.microsoft.com/office/drawing/2014/main" id="{4D7C3EBE-FA20-7E4C-13DD-84F1A98618F6}"/>
              </a:ext>
            </a:extLst>
          </p:cNvPr>
          <p:cNvGrpSpPr/>
          <p:nvPr/>
        </p:nvGrpSpPr>
        <p:grpSpPr>
          <a:xfrm>
            <a:off x="977741" y="5986264"/>
            <a:ext cx="508158" cy="543805"/>
            <a:chOff x="0" y="0"/>
            <a:chExt cx="812800" cy="869819"/>
          </a:xfrm>
        </p:grpSpPr>
        <p:sp>
          <p:nvSpPr>
            <p:cNvPr id="29" name="Freeform 29">
              <a:extLst>
                <a:ext uri="{FF2B5EF4-FFF2-40B4-BE49-F238E27FC236}">
                  <a16:creationId xmlns:a16="http://schemas.microsoft.com/office/drawing/2014/main" id="{C1E3AE62-1B2B-FE1E-010C-A26C4F613A62}"/>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0" name="TextBox 30">
              <a:extLst>
                <a:ext uri="{FF2B5EF4-FFF2-40B4-BE49-F238E27FC236}">
                  <a16:creationId xmlns:a16="http://schemas.microsoft.com/office/drawing/2014/main" id="{CDA04BD5-C99C-980C-6593-EDEA378D6C32}"/>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31" name="Group 31">
            <a:extLst>
              <a:ext uri="{FF2B5EF4-FFF2-40B4-BE49-F238E27FC236}">
                <a16:creationId xmlns:a16="http://schemas.microsoft.com/office/drawing/2014/main" id="{E77207A6-9552-432B-0793-EB6A88EE3C10}"/>
              </a:ext>
            </a:extLst>
          </p:cNvPr>
          <p:cNvGrpSpPr/>
          <p:nvPr/>
        </p:nvGrpSpPr>
        <p:grpSpPr>
          <a:xfrm>
            <a:off x="977741" y="7760846"/>
            <a:ext cx="508158" cy="543805"/>
            <a:chOff x="0" y="0"/>
            <a:chExt cx="812800" cy="869819"/>
          </a:xfrm>
        </p:grpSpPr>
        <p:sp>
          <p:nvSpPr>
            <p:cNvPr id="32" name="Freeform 32">
              <a:extLst>
                <a:ext uri="{FF2B5EF4-FFF2-40B4-BE49-F238E27FC236}">
                  <a16:creationId xmlns:a16="http://schemas.microsoft.com/office/drawing/2014/main" id="{27447A1E-BA0C-26C0-C743-E590A55A6532}"/>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3" name="TextBox 33">
              <a:extLst>
                <a:ext uri="{FF2B5EF4-FFF2-40B4-BE49-F238E27FC236}">
                  <a16:creationId xmlns:a16="http://schemas.microsoft.com/office/drawing/2014/main" id="{8D425BCC-6A0F-30CB-18E7-D1E21E871D95}"/>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34" name="Freeform 34">
            <a:extLst>
              <a:ext uri="{FF2B5EF4-FFF2-40B4-BE49-F238E27FC236}">
                <a16:creationId xmlns:a16="http://schemas.microsoft.com/office/drawing/2014/main" id="{35F87FC1-4854-F9D4-8104-40945AD6A772}"/>
              </a:ext>
            </a:extLst>
          </p:cNvPr>
          <p:cNvSpPr/>
          <p:nvPr/>
        </p:nvSpPr>
        <p:spPr>
          <a:xfrm>
            <a:off x="16313420" y="1028700"/>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a:extLst>
                <a:ext uri="{96DAC541-7B7A-43D3-8B79-37D633B846F1}">
                  <asvg:svgBlip xmlns:asvg="http://schemas.microsoft.com/office/drawing/2016/SVG/main" r:embed="rId2"/>
                </a:ext>
              </a:extLst>
            </a:blip>
            <a:stretch>
              <a:fillRect/>
            </a:stretch>
          </a:blipFill>
        </p:spPr>
      </p:sp>
      <p:grpSp>
        <p:nvGrpSpPr>
          <p:cNvPr id="35" name="Group 35">
            <a:extLst>
              <a:ext uri="{FF2B5EF4-FFF2-40B4-BE49-F238E27FC236}">
                <a16:creationId xmlns:a16="http://schemas.microsoft.com/office/drawing/2014/main" id="{C7CF20EF-980A-2D88-E968-DCB5B8BC6CF8}"/>
              </a:ext>
            </a:extLst>
          </p:cNvPr>
          <p:cNvGrpSpPr/>
          <p:nvPr/>
        </p:nvGrpSpPr>
        <p:grpSpPr>
          <a:xfrm>
            <a:off x="17170670" y="-178579"/>
            <a:ext cx="10994424" cy="10994424"/>
            <a:chOff x="0" y="0"/>
            <a:chExt cx="812800" cy="812800"/>
          </a:xfrm>
        </p:grpSpPr>
        <p:sp>
          <p:nvSpPr>
            <p:cNvPr id="36" name="Freeform 36">
              <a:extLst>
                <a:ext uri="{FF2B5EF4-FFF2-40B4-BE49-F238E27FC236}">
                  <a16:creationId xmlns:a16="http://schemas.microsoft.com/office/drawing/2014/main" id="{A7A686B7-4E4C-A5FA-60CD-A6EFF9DEAD82}"/>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514350" cap="sq">
              <a:solidFill>
                <a:srgbClr val="FD6220">
                  <a:alpha val="11765"/>
                </a:srgbClr>
              </a:solidFill>
              <a:prstDash val="solid"/>
              <a:miter/>
            </a:ln>
          </p:spPr>
        </p:sp>
        <p:sp>
          <p:nvSpPr>
            <p:cNvPr id="37" name="TextBox 37">
              <a:extLst>
                <a:ext uri="{FF2B5EF4-FFF2-40B4-BE49-F238E27FC236}">
                  <a16:creationId xmlns:a16="http://schemas.microsoft.com/office/drawing/2014/main" id="{3ECD8D52-6368-578C-BEB2-0B1BA37FD45D}"/>
                </a:ext>
              </a:extLst>
            </p:cNvPr>
            <p:cNvSpPr txBox="1"/>
            <p:nvPr/>
          </p:nvSpPr>
          <p:spPr>
            <a:xfrm>
              <a:off x="76200" y="47625"/>
              <a:ext cx="660400" cy="688975"/>
            </a:xfrm>
            <a:prstGeom prst="rect">
              <a:avLst/>
            </a:prstGeom>
          </p:spPr>
          <p:txBody>
            <a:bodyPr lIns="50800" tIns="50800" rIns="50800" bIns="50800" rtlCol="0" anchor="ctr"/>
            <a:lstStyle/>
            <a:p>
              <a:pPr algn="ctr">
                <a:lnSpc>
                  <a:spcPts val="2659"/>
                </a:lnSpc>
              </a:pPr>
              <a:endParaRPr/>
            </a:p>
          </p:txBody>
        </p:sp>
      </p:grpSp>
      <p:sp>
        <p:nvSpPr>
          <p:cNvPr id="43" name="TextBox 42">
            <a:extLst>
              <a:ext uri="{FF2B5EF4-FFF2-40B4-BE49-F238E27FC236}">
                <a16:creationId xmlns:a16="http://schemas.microsoft.com/office/drawing/2014/main" id="{638323CF-7DCB-075F-B739-0F88472F060D}"/>
              </a:ext>
            </a:extLst>
          </p:cNvPr>
          <p:cNvSpPr txBox="1"/>
          <p:nvPr/>
        </p:nvSpPr>
        <p:spPr>
          <a:xfrm>
            <a:off x="152400" y="342900"/>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IMPLEMENTATION SCREENSHOTS</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4" name="Text Placeholder 3">
            <a:extLst>
              <a:ext uri="{FF2B5EF4-FFF2-40B4-BE49-F238E27FC236}">
                <a16:creationId xmlns:a16="http://schemas.microsoft.com/office/drawing/2014/main" id="{C6F7DB32-313F-CE9F-5B5F-B6FEDABC2747}"/>
              </a:ext>
            </a:extLst>
          </p:cNvPr>
          <p:cNvSpPr>
            <a:spLocks noGrp="1"/>
          </p:cNvSpPr>
          <p:nvPr>
            <p:ph type="body" sz="half" idx="2"/>
          </p:nvPr>
        </p:nvSpPr>
        <p:spPr>
          <a:xfrm flipV="1">
            <a:off x="3124200" y="9785118"/>
            <a:ext cx="13639800" cy="45719"/>
          </a:xfrm>
        </p:spPr>
        <p:txBody>
          <a:bodyPr>
            <a:normAutofit fontScale="25000" lnSpcReduction="20000"/>
          </a:bodyPr>
          <a:lstStyle/>
          <a:p>
            <a:endParaRPr lang="en-IN" sz="2000" dirty="0"/>
          </a:p>
        </p:txBody>
      </p:sp>
      <p:pic>
        <p:nvPicPr>
          <p:cNvPr id="5" name="Picture 4">
            <a:extLst>
              <a:ext uri="{FF2B5EF4-FFF2-40B4-BE49-F238E27FC236}">
                <a16:creationId xmlns:a16="http://schemas.microsoft.com/office/drawing/2014/main" id="{CA9EF2EC-DBF0-868C-7606-7FDD7ADF108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786904" y="1285925"/>
            <a:ext cx="7835399" cy="4733455"/>
          </a:xfrm>
          <a:prstGeom prst="rect">
            <a:avLst/>
          </a:prstGeom>
        </p:spPr>
      </p:pic>
      <p:pic>
        <p:nvPicPr>
          <p:cNvPr id="39" name="Picture 38">
            <a:extLst>
              <a:ext uri="{FF2B5EF4-FFF2-40B4-BE49-F238E27FC236}">
                <a16:creationId xmlns:a16="http://schemas.microsoft.com/office/drawing/2014/main" id="{8CB56EF6-7E3E-6C6E-63D0-7C88EB12B33F}"/>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9820231" y="4400179"/>
            <a:ext cx="8310168" cy="5384939"/>
          </a:xfrm>
          <a:prstGeom prst="rect">
            <a:avLst/>
          </a:prstGeom>
        </p:spPr>
      </p:pic>
    </p:spTree>
    <p:extLst>
      <p:ext uri="{BB962C8B-B14F-4D97-AF65-F5344CB8AC3E}">
        <p14:creationId xmlns:p14="http://schemas.microsoft.com/office/powerpoint/2010/main" val="4754482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a:extLst>
            <a:ext uri="{FF2B5EF4-FFF2-40B4-BE49-F238E27FC236}">
              <a16:creationId xmlns:a16="http://schemas.microsoft.com/office/drawing/2014/main" id="{0152AA6E-1A8C-A42D-344E-C811AB58A618}"/>
            </a:ext>
          </a:extLst>
        </p:cNvPr>
        <p:cNvGrpSpPr/>
        <p:nvPr/>
      </p:nvGrpSpPr>
      <p:grpSpPr>
        <a:xfrm>
          <a:off x="0" y="0"/>
          <a:ext cx="0" cy="0"/>
          <a:chOff x="0" y="0"/>
          <a:chExt cx="0" cy="0"/>
        </a:xfrm>
      </p:grpSpPr>
      <p:grpSp>
        <p:nvGrpSpPr>
          <p:cNvPr id="7" name="Group 7">
            <a:extLst>
              <a:ext uri="{FF2B5EF4-FFF2-40B4-BE49-F238E27FC236}">
                <a16:creationId xmlns:a16="http://schemas.microsoft.com/office/drawing/2014/main" id="{EB7F1E1F-336A-607D-2868-6C57FF54EB44}"/>
              </a:ext>
            </a:extLst>
          </p:cNvPr>
          <p:cNvGrpSpPr/>
          <p:nvPr/>
        </p:nvGrpSpPr>
        <p:grpSpPr>
          <a:xfrm>
            <a:off x="735588" y="6653894"/>
            <a:ext cx="992463" cy="992463"/>
            <a:chOff x="0" y="0"/>
            <a:chExt cx="812800" cy="812800"/>
          </a:xfrm>
        </p:grpSpPr>
        <p:sp>
          <p:nvSpPr>
            <p:cNvPr id="8" name="Freeform 8">
              <a:extLst>
                <a:ext uri="{FF2B5EF4-FFF2-40B4-BE49-F238E27FC236}">
                  <a16:creationId xmlns:a16="http://schemas.microsoft.com/office/drawing/2014/main" id="{63528BA9-EE0E-A6F8-4A8C-6DFC964B206C}"/>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sp>
        <p:sp>
          <p:nvSpPr>
            <p:cNvPr id="9" name="TextBox 9">
              <a:extLst>
                <a:ext uri="{FF2B5EF4-FFF2-40B4-BE49-F238E27FC236}">
                  <a16:creationId xmlns:a16="http://schemas.microsoft.com/office/drawing/2014/main" id="{6E25C449-B344-E643-12F7-C89DEE4255EA}"/>
                </a:ext>
              </a:extLst>
            </p:cNvPr>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400" b="1" dirty="0">
                  <a:solidFill>
                    <a:srgbClr val="002060"/>
                  </a:solidFill>
                  <a:latin typeface="Gotham"/>
                  <a:ea typeface="Gotham"/>
                  <a:cs typeface="Gotham"/>
                  <a:sym typeface="Gotham"/>
                </a:rPr>
                <a:t>8(C)</a:t>
              </a:r>
            </a:p>
          </p:txBody>
        </p:sp>
      </p:grpSp>
      <p:grpSp>
        <p:nvGrpSpPr>
          <p:cNvPr id="10" name="Group 10">
            <a:extLst>
              <a:ext uri="{FF2B5EF4-FFF2-40B4-BE49-F238E27FC236}">
                <a16:creationId xmlns:a16="http://schemas.microsoft.com/office/drawing/2014/main" id="{4C22D2BC-F5CA-423B-6FD6-94172693045D}"/>
              </a:ext>
            </a:extLst>
          </p:cNvPr>
          <p:cNvGrpSpPr/>
          <p:nvPr/>
        </p:nvGrpSpPr>
        <p:grpSpPr>
          <a:xfrm>
            <a:off x="977741" y="3315742"/>
            <a:ext cx="508158" cy="543805"/>
            <a:chOff x="0" y="0"/>
            <a:chExt cx="812800" cy="869819"/>
          </a:xfrm>
        </p:grpSpPr>
        <p:sp>
          <p:nvSpPr>
            <p:cNvPr id="11" name="Freeform 11">
              <a:extLst>
                <a:ext uri="{FF2B5EF4-FFF2-40B4-BE49-F238E27FC236}">
                  <a16:creationId xmlns:a16="http://schemas.microsoft.com/office/drawing/2014/main" id="{F6670B32-1168-757A-3D40-FDD55687DCFD}"/>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2" name="TextBox 12">
              <a:extLst>
                <a:ext uri="{FF2B5EF4-FFF2-40B4-BE49-F238E27FC236}">
                  <a16:creationId xmlns:a16="http://schemas.microsoft.com/office/drawing/2014/main" id="{0D3BB7FD-57C6-C09A-D875-135D505A8E14}"/>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13" name="Group 13">
            <a:extLst>
              <a:ext uri="{FF2B5EF4-FFF2-40B4-BE49-F238E27FC236}">
                <a16:creationId xmlns:a16="http://schemas.microsoft.com/office/drawing/2014/main" id="{067A86AC-A2D1-3F33-5857-9F69983F71BB}"/>
              </a:ext>
            </a:extLst>
          </p:cNvPr>
          <p:cNvGrpSpPr/>
          <p:nvPr/>
        </p:nvGrpSpPr>
        <p:grpSpPr>
          <a:xfrm>
            <a:off x="977741" y="1982349"/>
            <a:ext cx="508158" cy="543805"/>
            <a:chOff x="0" y="0"/>
            <a:chExt cx="812800" cy="869819"/>
          </a:xfrm>
        </p:grpSpPr>
        <p:sp>
          <p:nvSpPr>
            <p:cNvPr id="14" name="Freeform 14">
              <a:extLst>
                <a:ext uri="{FF2B5EF4-FFF2-40B4-BE49-F238E27FC236}">
                  <a16:creationId xmlns:a16="http://schemas.microsoft.com/office/drawing/2014/main" id="{D9EADC3C-D136-0700-9300-4D8E867EC531}"/>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5" name="TextBox 15">
              <a:extLst>
                <a:ext uri="{FF2B5EF4-FFF2-40B4-BE49-F238E27FC236}">
                  <a16:creationId xmlns:a16="http://schemas.microsoft.com/office/drawing/2014/main" id="{A8EAD5F3-3FC4-819A-6ECD-0BC55C92A2B3}"/>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16" name="Group 16">
            <a:extLst>
              <a:ext uri="{FF2B5EF4-FFF2-40B4-BE49-F238E27FC236}">
                <a16:creationId xmlns:a16="http://schemas.microsoft.com/office/drawing/2014/main" id="{1671F77B-B3A5-F8B6-AC67-6EF88CA95877}"/>
              </a:ext>
            </a:extLst>
          </p:cNvPr>
          <p:cNvGrpSpPr/>
          <p:nvPr/>
        </p:nvGrpSpPr>
        <p:grpSpPr>
          <a:xfrm>
            <a:off x="977741" y="3983373"/>
            <a:ext cx="508158" cy="543805"/>
            <a:chOff x="0" y="0"/>
            <a:chExt cx="812800" cy="869819"/>
          </a:xfrm>
        </p:grpSpPr>
        <p:sp>
          <p:nvSpPr>
            <p:cNvPr id="17" name="Freeform 17">
              <a:extLst>
                <a:ext uri="{FF2B5EF4-FFF2-40B4-BE49-F238E27FC236}">
                  <a16:creationId xmlns:a16="http://schemas.microsoft.com/office/drawing/2014/main" id="{1303025A-EF3E-710E-2DBD-D89F29B84993}"/>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8" name="TextBox 18">
              <a:extLst>
                <a:ext uri="{FF2B5EF4-FFF2-40B4-BE49-F238E27FC236}">
                  <a16:creationId xmlns:a16="http://schemas.microsoft.com/office/drawing/2014/main" id="{76E7D281-CC96-92C2-C2F7-583674F0609D}"/>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19" name="Group 19">
            <a:extLst>
              <a:ext uri="{FF2B5EF4-FFF2-40B4-BE49-F238E27FC236}">
                <a16:creationId xmlns:a16="http://schemas.microsoft.com/office/drawing/2014/main" id="{E0D02FED-C5F4-9CC7-F1F5-E75E542840A9}"/>
              </a:ext>
            </a:extLst>
          </p:cNvPr>
          <p:cNvGrpSpPr/>
          <p:nvPr/>
        </p:nvGrpSpPr>
        <p:grpSpPr>
          <a:xfrm>
            <a:off x="977741" y="2648112"/>
            <a:ext cx="508158" cy="543805"/>
            <a:chOff x="0" y="0"/>
            <a:chExt cx="812800" cy="869819"/>
          </a:xfrm>
        </p:grpSpPr>
        <p:sp>
          <p:nvSpPr>
            <p:cNvPr id="20" name="Freeform 20">
              <a:extLst>
                <a:ext uri="{FF2B5EF4-FFF2-40B4-BE49-F238E27FC236}">
                  <a16:creationId xmlns:a16="http://schemas.microsoft.com/office/drawing/2014/main" id="{384D1E33-434F-2FA0-56CC-F24058D8639C}"/>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1" name="TextBox 21">
              <a:extLst>
                <a:ext uri="{FF2B5EF4-FFF2-40B4-BE49-F238E27FC236}">
                  <a16:creationId xmlns:a16="http://schemas.microsoft.com/office/drawing/2014/main" id="{F2FC0DCA-FB2A-610C-A8DB-76CE251A57D8}"/>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22" name="Group 22">
            <a:extLst>
              <a:ext uri="{FF2B5EF4-FFF2-40B4-BE49-F238E27FC236}">
                <a16:creationId xmlns:a16="http://schemas.microsoft.com/office/drawing/2014/main" id="{4CA1DB61-05A2-042F-9815-00DBC40D0556}"/>
              </a:ext>
            </a:extLst>
          </p:cNvPr>
          <p:cNvGrpSpPr/>
          <p:nvPr/>
        </p:nvGrpSpPr>
        <p:grpSpPr>
          <a:xfrm>
            <a:off x="977741" y="5318634"/>
            <a:ext cx="508158" cy="543805"/>
            <a:chOff x="0" y="0"/>
            <a:chExt cx="812800" cy="869819"/>
          </a:xfrm>
        </p:grpSpPr>
        <p:sp>
          <p:nvSpPr>
            <p:cNvPr id="23" name="Freeform 23">
              <a:extLst>
                <a:ext uri="{FF2B5EF4-FFF2-40B4-BE49-F238E27FC236}">
                  <a16:creationId xmlns:a16="http://schemas.microsoft.com/office/drawing/2014/main" id="{67E4E958-360B-28EF-052B-EDDBDD5F40F2}"/>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4" name="TextBox 24">
              <a:extLst>
                <a:ext uri="{FF2B5EF4-FFF2-40B4-BE49-F238E27FC236}">
                  <a16:creationId xmlns:a16="http://schemas.microsoft.com/office/drawing/2014/main" id="{BEDBF5CC-2720-E821-001C-11BCB7273E26}"/>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25" name="Group 25">
            <a:extLst>
              <a:ext uri="{FF2B5EF4-FFF2-40B4-BE49-F238E27FC236}">
                <a16:creationId xmlns:a16="http://schemas.microsoft.com/office/drawing/2014/main" id="{6B96629A-6996-B0D7-13D6-0FA011422666}"/>
              </a:ext>
            </a:extLst>
          </p:cNvPr>
          <p:cNvGrpSpPr/>
          <p:nvPr/>
        </p:nvGrpSpPr>
        <p:grpSpPr>
          <a:xfrm>
            <a:off x="977741" y="4651003"/>
            <a:ext cx="508158" cy="543805"/>
            <a:chOff x="0" y="0"/>
            <a:chExt cx="812800" cy="869819"/>
          </a:xfrm>
        </p:grpSpPr>
        <p:sp>
          <p:nvSpPr>
            <p:cNvPr id="26" name="Freeform 26">
              <a:extLst>
                <a:ext uri="{FF2B5EF4-FFF2-40B4-BE49-F238E27FC236}">
                  <a16:creationId xmlns:a16="http://schemas.microsoft.com/office/drawing/2014/main" id="{912F1ED8-E3AD-E90A-10CE-D50A8F7D91A8}"/>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7" name="TextBox 27">
              <a:extLst>
                <a:ext uri="{FF2B5EF4-FFF2-40B4-BE49-F238E27FC236}">
                  <a16:creationId xmlns:a16="http://schemas.microsoft.com/office/drawing/2014/main" id="{00E45F23-6E8F-F601-2EB3-537A898E7044}"/>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28" name="Group 28">
            <a:extLst>
              <a:ext uri="{FF2B5EF4-FFF2-40B4-BE49-F238E27FC236}">
                <a16:creationId xmlns:a16="http://schemas.microsoft.com/office/drawing/2014/main" id="{A40D6715-3580-0B1B-2305-C7ED6083AE85}"/>
              </a:ext>
            </a:extLst>
          </p:cNvPr>
          <p:cNvGrpSpPr/>
          <p:nvPr/>
        </p:nvGrpSpPr>
        <p:grpSpPr>
          <a:xfrm>
            <a:off x="977741" y="5986264"/>
            <a:ext cx="508158" cy="543805"/>
            <a:chOff x="0" y="0"/>
            <a:chExt cx="812800" cy="869819"/>
          </a:xfrm>
        </p:grpSpPr>
        <p:sp>
          <p:nvSpPr>
            <p:cNvPr id="29" name="Freeform 29">
              <a:extLst>
                <a:ext uri="{FF2B5EF4-FFF2-40B4-BE49-F238E27FC236}">
                  <a16:creationId xmlns:a16="http://schemas.microsoft.com/office/drawing/2014/main" id="{11A59530-4B7F-6C6B-290E-578EA30200D0}"/>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0" name="TextBox 30">
              <a:extLst>
                <a:ext uri="{FF2B5EF4-FFF2-40B4-BE49-F238E27FC236}">
                  <a16:creationId xmlns:a16="http://schemas.microsoft.com/office/drawing/2014/main" id="{9BDCE736-251A-5B70-853E-A0A9A174F361}"/>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31" name="Group 31">
            <a:extLst>
              <a:ext uri="{FF2B5EF4-FFF2-40B4-BE49-F238E27FC236}">
                <a16:creationId xmlns:a16="http://schemas.microsoft.com/office/drawing/2014/main" id="{8249BDCF-E07B-269B-D039-A4360C0FE2B4}"/>
              </a:ext>
            </a:extLst>
          </p:cNvPr>
          <p:cNvGrpSpPr/>
          <p:nvPr/>
        </p:nvGrpSpPr>
        <p:grpSpPr>
          <a:xfrm>
            <a:off x="977741" y="7760846"/>
            <a:ext cx="508158" cy="543805"/>
            <a:chOff x="0" y="0"/>
            <a:chExt cx="812800" cy="869819"/>
          </a:xfrm>
        </p:grpSpPr>
        <p:sp>
          <p:nvSpPr>
            <p:cNvPr id="32" name="Freeform 32">
              <a:extLst>
                <a:ext uri="{FF2B5EF4-FFF2-40B4-BE49-F238E27FC236}">
                  <a16:creationId xmlns:a16="http://schemas.microsoft.com/office/drawing/2014/main" id="{6F6B04FD-3FAC-90A2-4C1A-D809D058C0A9}"/>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3" name="TextBox 33">
              <a:extLst>
                <a:ext uri="{FF2B5EF4-FFF2-40B4-BE49-F238E27FC236}">
                  <a16:creationId xmlns:a16="http://schemas.microsoft.com/office/drawing/2014/main" id="{BEE5C092-697C-26F6-D6E0-477F151E7CAE}"/>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34" name="Freeform 34">
            <a:extLst>
              <a:ext uri="{FF2B5EF4-FFF2-40B4-BE49-F238E27FC236}">
                <a16:creationId xmlns:a16="http://schemas.microsoft.com/office/drawing/2014/main" id="{FF80FEAE-01A3-1956-FB30-BED14CA86273}"/>
              </a:ext>
            </a:extLst>
          </p:cNvPr>
          <p:cNvSpPr/>
          <p:nvPr/>
        </p:nvSpPr>
        <p:spPr>
          <a:xfrm>
            <a:off x="16313420" y="1028700"/>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a:extLst>
                <a:ext uri="{96DAC541-7B7A-43D3-8B79-37D633B846F1}">
                  <asvg:svgBlip xmlns:asvg="http://schemas.microsoft.com/office/drawing/2016/SVG/main" r:embed="rId2"/>
                </a:ext>
              </a:extLst>
            </a:blip>
            <a:stretch>
              <a:fillRect/>
            </a:stretch>
          </a:blipFill>
        </p:spPr>
      </p:sp>
      <p:grpSp>
        <p:nvGrpSpPr>
          <p:cNvPr id="35" name="Group 35">
            <a:extLst>
              <a:ext uri="{FF2B5EF4-FFF2-40B4-BE49-F238E27FC236}">
                <a16:creationId xmlns:a16="http://schemas.microsoft.com/office/drawing/2014/main" id="{2E8D2AB5-8B00-D9B4-469D-07CAE4ECF9C8}"/>
              </a:ext>
            </a:extLst>
          </p:cNvPr>
          <p:cNvGrpSpPr/>
          <p:nvPr/>
        </p:nvGrpSpPr>
        <p:grpSpPr>
          <a:xfrm>
            <a:off x="17170670" y="-178579"/>
            <a:ext cx="10994424" cy="10994424"/>
            <a:chOff x="0" y="0"/>
            <a:chExt cx="812800" cy="812800"/>
          </a:xfrm>
        </p:grpSpPr>
        <p:sp>
          <p:nvSpPr>
            <p:cNvPr id="36" name="Freeform 36">
              <a:extLst>
                <a:ext uri="{FF2B5EF4-FFF2-40B4-BE49-F238E27FC236}">
                  <a16:creationId xmlns:a16="http://schemas.microsoft.com/office/drawing/2014/main" id="{F9F17E25-114F-438B-701A-7788D333F33D}"/>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514350" cap="sq">
              <a:solidFill>
                <a:srgbClr val="FD6220">
                  <a:alpha val="11765"/>
                </a:srgbClr>
              </a:solidFill>
              <a:prstDash val="solid"/>
              <a:miter/>
            </a:ln>
          </p:spPr>
        </p:sp>
        <p:sp>
          <p:nvSpPr>
            <p:cNvPr id="37" name="TextBox 37">
              <a:extLst>
                <a:ext uri="{FF2B5EF4-FFF2-40B4-BE49-F238E27FC236}">
                  <a16:creationId xmlns:a16="http://schemas.microsoft.com/office/drawing/2014/main" id="{1C4B6667-B2EE-BA32-402F-04368D88D5C4}"/>
                </a:ext>
              </a:extLst>
            </p:cNvPr>
            <p:cNvSpPr txBox="1"/>
            <p:nvPr/>
          </p:nvSpPr>
          <p:spPr>
            <a:xfrm>
              <a:off x="76200" y="47625"/>
              <a:ext cx="660400" cy="688975"/>
            </a:xfrm>
            <a:prstGeom prst="rect">
              <a:avLst/>
            </a:prstGeom>
          </p:spPr>
          <p:txBody>
            <a:bodyPr lIns="50800" tIns="50800" rIns="50800" bIns="50800" rtlCol="0" anchor="ctr"/>
            <a:lstStyle/>
            <a:p>
              <a:pPr algn="ctr">
                <a:lnSpc>
                  <a:spcPts val="2659"/>
                </a:lnSpc>
              </a:pPr>
              <a:endParaRPr/>
            </a:p>
          </p:txBody>
        </p:sp>
      </p:grpSp>
      <p:sp>
        <p:nvSpPr>
          <p:cNvPr id="43" name="TextBox 42">
            <a:extLst>
              <a:ext uri="{FF2B5EF4-FFF2-40B4-BE49-F238E27FC236}">
                <a16:creationId xmlns:a16="http://schemas.microsoft.com/office/drawing/2014/main" id="{9B953180-DB27-F046-86E3-E3508247B406}"/>
              </a:ext>
            </a:extLst>
          </p:cNvPr>
          <p:cNvSpPr txBox="1"/>
          <p:nvPr/>
        </p:nvSpPr>
        <p:spPr>
          <a:xfrm>
            <a:off x="152400" y="342900"/>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IMPLEMENTATION SCREENSHOTS</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44" name="TextBox 43">
            <a:extLst>
              <a:ext uri="{FF2B5EF4-FFF2-40B4-BE49-F238E27FC236}">
                <a16:creationId xmlns:a16="http://schemas.microsoft.com/office/drawing/2014/main" id="{341A1FDE-E3AB-682A-64B7-DA145F23EB91}"/>
              </a:ext>
            </a:extLst>
          </p:cNvPr>
          <p:cNvSpPr txBox="1"/>
          <p:nvPr/>
        </p:nvSpPr>
        <p:spPr>
          <a:xfrm>
            <a:off x="2209800" y="1638300"/>
            <a:ext cx="15082325" cy="5262979"/>
          </a:xfrm>
          <a:prstGeom prst="rect">
            <a:avLst/>
          </a:prstGeom>
          <a:noFill/>
        </p:spPr>
        <p:txBody>
          <a:bodyPr wrap="square" rtlCol="0">
            <a:spAutoFit/>
          </a:bodyPr>
          <a:lstStyle/>
          <a:p>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IN" sz="2800" dirty="0"/>
          </a:p>
        </p:txBody>
      </p:sp>
      <p:pic>
        <p:nvPicPr>
          <p:cNvPr id="6" name="Picture 5">
            <a:extLst>
              <a:ext uri="{FF2B5EF4-FFF2-40B4-BE49-F238E27FC236}">
                <a16:creationId xmlns:a16="http://schemas.microsoft.com/office/drawing/2014/main" id="{C220263F-C07B-CDFA-A3FC-87DFC254496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682647" y="1414175"/>
            <a:ext cx="8374885" cy="4710873"/>
          </a:xfrm>
          <a:prstGeom prst="rect">
            <a:avLst/>
          </a:prstGeom>
        </p:spPr>
      </p:pic>
      <p:pic>
        <p:nvPicPr>
          <p:cNvPr id="39" name="Picture 38">
            <a:extLst>
              <a:ext uri="{FF2B5EF4-FFF2-40B4-BE49-F238E27FC236}">
                <a16:creationId xmlns:a16="http://schemas.microsoft.com/office/drawing/2014/main" id="{BAFFAA40-8DC9-EB7C-9E0D-0ACE08690190}"/>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0122169" y="5059205"/>
            <a:ext cx="7937231" cy="4714875"/>
          </a:xfrm>
          <a:prstGeom prst="rect">
            <a:avLst/>
          </a:prstGeom>
        </p:spPr>
      </p:pic>
    </p:spTree>
    <p:extLst>
      <p:ext uri="{BB962C8B-B14F-4D97-AF65-F5344CB8AC3E}">
        <p14:creationId xmlns:p14="http://schemas.microsoft.com/office/powerpoint/2010/main" val="8488995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a:extLst>
            <a:ext uri="{FF2B5EF4-FFF2-40B4-BE49-F238E27FC236}">
              <a16:creationId xmlns:a16="http://schemas.microsoft.com/office/drawing/2014/main" id="{93EBAB55-7601-3C41-6F10-EE0F67F7766F}"/>
            </a:ext>
          </a:extLst>
        </p:cNvPr>
        <p:cNvGrpSpPr/>
        <p:nvPr/>
      </p:nvGrpSpPr>
      <p:grpSpPr>
        <a:xfrm>
          <a:off x="0" y="0"/>
          <a:ext cx="0" cy="0"/>
          <a:chOff x="0" y="0"/>
          <a:chExt cx="0" cy="0"/>
        </a:xfrm>
      </p:grpSpPr>
      <p:grpSp>
        <p:nvGrpSpPr>
          <p:cNvPr id="5" name="Group 5">
            <a:extLst>
              <a:ext uri="{FF2B5EF4-FFF2-40B4-BE49-F238E27FC236}">
                <a16:creationId xmlns:a16="http://schemas.microsoft.com/office/drawing/2014/main" id="{B9E2C662-B058-485B-BFC3-199F93F6D154}"/>
              </a:ext>
            </a:extLst>
          </p:cNvPr>
          <p:cNvGrpSpPr/>
          <p:nvPr/>
        </p:nvGrpSpPr>
        <p:grpSpPr>
          <a:xfrm>
            <a:off x="735588" y="7321525"/>
            <a:ext cx="992463" cy="992463"/>
            <a:chOff x="0" y="0"/>
            <a:chExt cx="812800" cy="812800"/>
          </a:xfrm>
        </p:grpSpPr>
        <p:sp>
          <p:nvSpPr>
            <p:cNvPr id="6" name="Freeform 6">
              <a:extLst>
                <a:ext uri="{FF2B5EF4-FFF2-40B4-BE49-F238E27FC236}">
                  <a16:creationId xmlns:a16="http://schemas.microsoft.com/office/drawing/2014/main" id="{F125CA7A-BCD4-5B7F-7069-AE7F5BD10A9F}"/>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sp>
        <p:sp>
          <p:nvSpPr>
            <p:cNvPr id="7" name="TextBox 7">
              <a:extLst>
                <a:ext uri="{FF2B5EF4-FFF2-40B4-BE49-F238E27FC236}">
                  <a16:creationId xmlns:a16="http://schemas.microsoft.com/office/drawing/2014/main" id="{07E08158-57E2-530C-A7FD-5AF72088CFEA}"/>
                </a:ext>
              </a:extLst>
            </p:cNvPr>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699">
                  <a:solidFill>
                    <a:srgbClr val="FFFEFE"/>
                  </a:solidFill>
                  <a:latin typeface="Gotham"/>
                  <a:ea typeface="Gotham"/>
                  <a:cs typeface="Gotham"/>
                  <a:sym typeface="Gotham"/>
                </a:rPr>
                <a:t>9</a:t>
              </a:r>
            </a:p>
          </p:txBody>
        </p:sp>
      </p:grpSp>
      <p:grpSp>
        <p:nvGrpSpPr>
          <p:cNvPr id="8" name="Group 8">
            <a:extLst>
              <a:ext uri="{FF2B5EF4-FFF2-40B4-BE49-F238E27FC236}">
                <a16:creationId xmlns:a16="http://schemas.microsoft.com/office/drawing/2014/main" id="{CB09EB64-B1EE-DA7A-E7DC-97163FE53167}"/>
              </a:ext>
            </a:extLst>
          </p:cNvPr>
          <p:cNvGrpSpPr/>
          <p:nvPr/>
        </p:nvGrpSpPr>
        <p:grpSpPr>
          <a:xfrm>
            <a:off x="977741" y="3315742"/>
            <a:ext cx="508158" cy="543805"/>
            <a:chOff x="0" y="0"/>
            <a:chExt cx="812800" cy="869819"/>
          </a:xfrm>
        </p:grpSpPr>
        <p:sp>
          <p:nvSpPr>
            <p:cNvPr id="9" name="Freeform 9">
              <a:extLst>
                <a:ext uri="{FF2B5EF4-FFF2-40B4-BE49-F238E27FC236}">
                  <a16:creationId xmlns:a16="http://schemas.microsoft.com/office/drawing/2014/main" id="{4B04A57D-53E9-134E-70C7-51485932A21F}"/>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0" name="TextBox 10">
              <a:extLst>
                <a:ext uri="{FF2B5EF4-FFF2-40B4-BE49-F238E27FC236}">
                  <a16:creationId xmlns:a16="http://schemas.microsoft.com/office/drawing/2014/main" id="{AC0A25AD-0459-BAEA-2E7B-0D9279AE1BC5}"/>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11" name="Group 11">
            <a:extLst>
              <a:ext uri="{FF2B5EF4-FFF2-40B4-BE49-F238E27FC236}">
                <a16:creationId xmlns:a16="http://schemas.microsoft.com/office/drawing/2014/main" id="{E0EBC171-BEE8-2D5E-8755-EE50B2570259}"/>
              </a:ext>
            </a:extLst>
          </p:cNvPr>
          <p:cNvGrpSpPr/>
          <p:nvPr/>
        </p:nvGrpSpPr>
        <p:grpSpPr>
          <a:xfrm>
            <a:off x="977741" y="1982349"/>
            <a:ext cx="508158" cy="543805"/>
            <a:chOff x="0" y="0"/>
            <a:chExt cx="812800" cy="869819"/>
          </a:xfrm>
        </p:grpSpPr>
        <p:sp>
          <p:nvSpPr>
            <p:cNvPr id="12" name="Freeform 12">
              <a:extLst>
                <a:ext uri="{FF2B5EF4-FFF2-40B4-BE49-F238E27FC236}">
                  <a16:creationId xmlns:a16="http://schemas.microsoft.com/office/drawing/2014/main" id="{E4000A93-AB8F-B573-E218-7434988FD581}"/>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3" name="TextBox 13">
              <a:extLst>
                <a:ext uri="{FF2B5EF4-FFF2-40B4-BE49-F238E27FC236}">
                  <a16:creationId xmlns:a16="http://schemas.microsoft.com/office/drawing/2014/main" id="{1228826C-BC2E-0DA0-107F-341F9D1A4945}"/>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14" name="Group 14">
            <a:extLst>
              <a:ext uri="{FF2B5EF4-FFF2-40B4-BE49-F238E27FC236}">
                <a16:creationId xmlns:a16="http://schemas.microsoft.com/office/drawing/2014/main" id="{7FD594E4-E181-FD3B-1C72-DE2D718C274A}"/>
              </a:ext>
            </a:extLst>
          </p:cNvPr>
          <p:cNvGrpSpPr/>
          <p:nvPr/>
        </p:nvGrpSpPr>
        <p:grpSpPr>
          <a:xfrm>
            <a:off x="977741" y="3983373"/>
            <a:ext cx="508158" cy="543805"/>
            <a:chOff x="0" y="0"/>
            <a:chExt cx="812800" cy="869819"/>
          </a:xfrm>
        </p:grpSpPr>
        <p:sp>
          <p:nvSpPr>
            <p:cNvPr id="15" name="Freeform 15">
              <a:extLst>
                <a:ext uri="{FF2B5EF4-FFF2-40B4-BE49-F238E27FC236}">
                  <a16:creationId xmlns:a16="http://schemas.microsoft.com/office/drawing/2014/main" id="{C16DA90C-521A-EFE9-8EE9-CB3967A50953}"/>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6" name="TextBox 16">
              <a:extLst>
                <a:ext uri="{FF2B5EF4-FFF2-40B4-BE49-F238E27FC236}">
                  <a16:creationId xmlns:a16="http://schemas.microsoft.com/office/drawing/2014/main" id="{5A678428-7466-DB88-0126-41232DE4A0D2}"/>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17" name="Group 17">
            <a:extLst>
              <a:ext uri="{FF2B5EF4-FFF2-40B4-BE49-F238E27FC236}">
                <a16:creationId xmlns:a16="http://schemas.microsoft.com/office/drawing/2014/main" id="{91D279A8-BDAA-B12E-DD4B-9978E9D5005C}"/>
              </a:ext>
            </a:extLst>
          </p:cNvPr>
          <p:cNvGrpSpPr/>
          <p:nvPr/>
        </p:nvGrpSpPr>
        <p:grpSpPr>
          <a:xfrm>
            <a:off x="977741" y="2648112"/>
            <a:ext cx="508158" cy="543805"/>
            <a:chOff x="0" y="0"/>
            <a:chExt cx="812800" cy="869819"/>
          </a:xfrm>
        </p:grpSpPr>
        <p:sp>
          <p:nvSpPr>
            <p:cNvPr id="18" name="Freeform 18">
              <a:extLst>
                <a:ext uri="{FF2B5EF4-FFF2-40B4-BE49-F238E27FC236}">
                  <a16:creationId xmlns:a16="http://schemas.microsoft.com/office/drawing/2014/main" id="{308F1BB3-7F58-DE0C-71F1-9782E0906192}"/>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9" name="TextBox 19">
              <a:extLst>
                <a:ext uri="{FF2B5EF4-FFF2-40B4-BE49-F238E27FC236}">
                  <a16:creationId xmlns:a16="http://schemas.microsoft.com/office/drawing/2014/main" id="{35F43F9B-B904-0414-7AA7-1E7959C4C9E9}"/>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20" name="Group 20">
            <a:extLst>
              <a:ext uri="{FF2B5EF4-FFF2-40B4-BE49-F238E27FC236}">
                <a16:creationId xmlns:a16="http://schemas.microsoft.com/office/drawing/2014/main" id="{311E9EBB-A9CE-A64F-FF44-F82C0D52AC32}"/>
              </a:ext>
            </a:extLst>
          </p:cNvPr>
          <p:cNvGrpSpPr/>
          <p:nvPr/>
        </p:nvGrpSpPr>
        <p:grpSpPr>
          <a:xfrm>
            <a:off x="977741" y="5318634"/>
            <a:ext cx="508158" cy="543805"/>
            <a:chOff x="0" y="0"/>
            <a:chExt cx="812800" cy="869819"/>
          </a:xfrm>
        </p:grpSpPr>
        <p:sp>
          <p:nvSpPr>
            <p:cNvPr id="21" name="Freeform 21">
              <a:extLst>
                <a:ext uri="{FF2B5EF4-FFF2-40B4-BE49-F238E27FC236}">
                  <a16:creationId xmlns:a16="http://schemas.microsoft.com/office/drawing/2014/main" id="{DED3A9EA-E50F-553B-EDAA-87F95FD22807}"/>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2" name="TextBox 22">
              <a:extLst>
                <a:ext uri="{FF2B5EF4-FFF2-40B4-BE49-F238E27FC236}">
                  <a16:creationId xmlns:a16="http://schemas.microsoft.com/office/drawing/2014/main" id="{7E9C7CEA-D993-4107-0776-54AC90E20625}"/>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23" name="Group 23">
            <a:extLst>
              <a:ext uri="{FF2B5EF4-FFF2-40B4-BE49-F238E27FC236}">
                <a16:creationId xmlns:a16="http://schemas.microsoft.com/office/drawing/2014/main" id="{7B397A27-1CC9-9661-DA24-10B3E1042399}"/>
              </a:ext>
            </a:extLst>
          </p:cNvPr>
          <p:cNvGrpSpPr/>
          <p:nvPr/>
        </p:nvGrpSpPr>
        <p:grpSpPr>
          <a:xfrm>
            <a:off x="977741" y="4651003"/>
            <a:ext cx="508158" cy="543805"/>
            <a:chOff x="0" y="0"/>
            <a:chExt cx="812800" cy="869819"/>
          </a:xfrm>
        </p:grpSpPr>
        <p:sp>
          <p:nvSpPr>
            <p:cNvPr id="24" name="Freeform 24">
              <a:extLst>
                <a:ext uri="{FF2B5EF4-FFF2-40B4-BE49-F238E27FC236}">
                  <a16:creationId xmlns:a16="http://schemas.microsoft.com/office/drawing/2014/main" id="{2A8CD899-9C63-11A3-805F-4CA0E12C7CB8}"/>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5" name="TextBox 25">
              <a:extLst>
                <a:ext uri="{FF2B5EF4-FFF2-40B4-BE49-F238E27FC236}">
                  <a16:creationId xmlns:a16="http://schemas.microsoft.com/office/drawing/2014/main" id="{1976C224-9A36-532E-5E8B-B738C9FBC3FF}"/>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26" name="Group 26">
            <a:extLst>
              <a:ext uri="{FF2B5EF4-FFF2-40B4-BE49-F238E27FC236}">
                <a16:creationId xmlns:a16="http://schemas.microsoft.com/office/drawing/2014/main" id="{E8CFE39F-6666-6E69-8980-5B55F6D56478}"/>
              </a:ext>
            </a:extLst>
          </p:cNvPr>
          <p:cNvGrpSpPr/>
          <p:nvPr/>
        </p:nvGrpSpPr>
        <p:grpSpPr>
          <a:xfrm>
            <a:off x="977741" y="5986264"/>
            <a:ext cx="508158" cy="543805"/>
            <a:chOff x="0" y="0"/>
            <a:chExt cx="812800" cy="869819"/>
          </a:xfrm>
        </p:grpSpPr>
        <p:sp>
          <p:nvSpPr>
            <p:cNvPr id="27" name="Freeform 27">
              <a:extLst>
                <a:ext uri="{FF2B5EF4-FFF2-40B4-BE49-F238E27FC236}">
                  <a16:creationId xmlns:a16="http://schemas.microsoft.com/office/drawing/2014/main" id="{F859737D-AFDF-BDFC-6651-3B954F2DD46E}"/>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8" name="TextBox 28">
              <a:extLst>
                <a:ext uri="{FF2B5EF4-FFF2-40B4-BE49-F238E27FC236}">
                  <a16:creationId xmlns:a16="http://schemas.microsoft.com/office/drawing/2014/main" id="{B7B59B44-AD68-1549-9F86-A09D82459B58}"/>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29" name="Group 29">
            <a:extLst>
              <a:ext uri="{FF2B5EF4-FFF2-40B4-BE49-F238E27FC236}">
                <a16:creationId xmlns:a16="http://schemas.microsoft.com/office/drawing/2014/main" id="{3FACABC2-D51C-1EF5-0D1B-34B410283F2E}"/>
              </a:ext>
            </a:extLst>
          </p:cNvPr>
          <p:cNvGrpSpPr/>
          <p:nvPr/>
        </p:nvGrpSpPr>
        <p:grpSpPr>
          <a:xfrm>
            <a:off x="977741" y="6653894"/>
            <a:ext cx="508158" cy="543805"/>
            <a:chOff x="0" y="0"/>
            <a:chExt cx="812800" cy="869819"/>
          </a:xfrm>
        </p:grpSpPr>
        <p:sp>
          <p:nvSpPr>
            <p:cNvPr id="30" name="Freeform 30">
              <a:extLst>
                <a:ext uri="{FF2B5EF4-FFF2-40B4-BE49-F238E27FC236}">
                  <a16:creationId xmlns:a16="http://schemas.microsoft.com/office/drawing/2014/main" id="{6DD43112-BD1E-86D9-D9C6-3C97559FC56A}"/>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1" name="TextBox 31">
              <a:extLst>
                <a:ext uri="{FF2B5EF4-FFF2-40B4-BE49-F238E27FC236}">
                  <a16:creationId xmlns:a16="http://schemas.microsoft.com/office/drawing/2014/main" id="{C34845E4-4A4B-0A81-5A55-140048165790}"/>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8</a:t>
              </a:r>
            </a:p>
          </p:txBody>
        </p:sp>
      </p:grpSp>
      <p:sp>
        <p:nvSpPr>
          <p:cNvPr id="32" name="Freeform 32">
            <a:extLst>
              <a:ext uri="{FF2B5EF4-FFF2-40B4-BE49-F238E27FC236}">
                <a16:creationId xmlns:a16="http://schemas.microsoft.com/office/drawing/2014/main" id="{05CB8E9D-B497-44FF-DB18-7D166BD2DA61}"/>
              </a:ext>
            </a:extLst>
          </p:cNvPr>
          <p:cNvSpPr/>
          <p:nvPr/>
        </p:nvSpPr>
        <p:spPr>
          <a:xfrm>
            <a:off x="16313420" y="1028700"/>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a:extLst>
                <a:ext uri="{96DAC541-7B7A-43D3-8B79-37D633B846F1}">
                  <asvg:svgBlip xmlns:asvg="http://schemas.microsoft.com/office/drawing/2016/SVG/main" r:embed="rId3"/>
                </a:ext>
              </a:extLst>
            </a:blip>
            <a:stretch>
              <a:fillRect/>
            </a:stretch>
          </a:blipFill>
        </p:spPr>
      </p:sp>
      <p:grpSp>
        <p:nvGrpSpPr>
          <p:cNvPr id="44" name="Group 44">
            <a:extLst>
              <a:ext uri="{FF2B5EF4-FFF2-40B4-BE49-F238E27FC236}">
                <a16:creationId xmlns:a16="http://schemas.microsoft.com/office/drawing/2014/main" id="{FBD0A79F-CA0B-2560-37ED-E07624B11027}"/>
              </a:ext>
            </a:extLst>
          </p:cNvPr>
          <p:cNvGrpSpPr/>
          <p:nvPr/>
        </p:nvGrpSpPr>
        <p:grpSpPr>
          <a:xfrm>
            <a:off x="16786360" y="-353712"/>
            <a:ext cx="10994424" cy="10994424"/>
            <a:chOff x="0" y="0"/>
            <a:chExt cx="812800" cy="812800"/>
          </a:xfrm>
        </p:grpSpPr>
        <p:sp>
          <p:nvSpPr>
            <p:cNvPr id="45" name="Freeform 45">
              <a:extLst>
                <a:ext uri="{FF2B5EF4-FFF2-40B4-BE49-F238E27FC236}">
                  <a16:creationId xmlns:a16="http://schemas.microsoft.com/office/drawing/2014/main" id="{25583CD3-FA12-1B53-043B-9FE4E18BA021}"/>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619125" cap="sq">
              <a:solidFill>
                <a:srgbClr val="FD6220">
                  <a:alpha val="11765"/>
                </a:srgbClr>
              </a:solidFill>
              <a:prstDash val="solid"/>
              <a:miter/>
            </a:ln>
          </p:spPr>
        </p:sp>
        <p:sp>
          <p:nvSpPr>
            <p:cNvPr id="46" name="TextBox 46">
              <a:extLst>
                <a:ext uri="{FF2B5EF4-FFF2-40B4-BE49-F238E27FC236}">
                  <a16:creationId xmlns:a16="http://schemas.microsoft.com/office/drawing/2014/main" id="{FA405478-0BA8-4A85-A81A-B9346174FE61}"/>
                </a:ext>
              </a:extLst>
            </p:cNvPr>
            <p:cNvSpPr txBox="1"/>
            <p:nvPr/>
          </p:nvSpPr>
          <p:spPr>
            <a:xfrm>
              <a:off x="76200" y="47625"/>
              <a:ext cx="660400" cy="688975"/>
            </a:xfrm>
            <a:prstGeom prst="rect">
              <a:avLst/>
            </a:prstGeom>
          </p:spPr>
          <p:txBody>
            <a:bodyPr lIns="50800" tIns="50800" rIns="50800" bIns="50800" rtlCol="0" anchor="ctr"/>
            <a:lstStyle/>
            <a:p>
              <a:pPr algn="ctr">
                <a:lnSpc>
                  <a:spcPts val="2659"/>
                </a:lnSpc>
              </a:pPr>
              <a:endParaRPr/>
            </a:p>
          </p:txBody>
        </p:sp>
      </p:grpSp>
      <p:sp>
        <p:nvSpPr>
          <p:cNvPr id="2" name="TextBox 1">
            <a:extLst>
              <a:ext uri="{FF2B5EF4-FFF2-40B4-BE49-F238E27FC236}">
                <a16:creationId xmlns:a16="http://schemas.microsoft.com/office/drawing/2014/main" id="{BC926643-39EA-932E-6755-230476B3078D}"/>
              </a:ext>
            </a:extLst>
          </p:cNvPr>
          <p:cNvSpPr txBox="1"/>
          <p:nvPr/>
        </p:nvSpPr>
        <p:spPr>
          <a:xfrm>
            <a:off x="190500" y="290493"/>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ADVANTAGES &amp; LIMITATIONS</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34" name="TextBox 33">
            <a:extLst>
              <a:ext uri="{FF2B5EF4-FFF2-40B4-BE49-F238E27FC236}">
                <a16:creationId xmlns:a16="http://schemas.microsoft.com/office/drawing/2014/main" id="{733A2133-474E-3838-49A7-BA9D61996AEB}"/>
              </a:ext>
            </a:extLst>
          </p:cNvPr>
          <p:cNvSpPr txBox="1"/>
          <p:nvPr/>
        </p:nvSpPr>
        <p:spPr>
          <a:xfrm>
            <a:off x="2743200" y="2171701"/>
            <a:ext cx="18329563" cy="5509200"/>
          </a:xfrm>
          <a:prstGeom prst="rect">
            <a:avLst/>
          </a:prstGeom>
          <a:noFill/>
        </p:spPr>
        <p:txBody>
          <a:bodyPr wrap="square">
            <a:spAutoFit/>
          </a:bodyPr>
          <a:lstStyle/>
          <a:p>
            <a:pPr marL="457200" indent="-457200">
              <a:buFont typeface="Arial" panose="020B0604020202020204" pitchFamily="34" charset="0"/>
              <a:buChar char="•"/>
            </a:pPr>
            <a:r>
              <a:rPr lang="en-US" sz="3200" b="1" dirty="0"/>
              <a:t>Advantages</a:t>
            </a:r>
          </a:p>
          <a:p>
            <a:r>
              <a:rPr lang="en-US" sz="3200" dirty="0"/>
              <a:t> 1.Responsive design works on mobile , tablet, and desktop devices.</a:t>
            </a:r>
          </a:p>
          <a:p>
            <a:r>
              <a:rPr lang="en-US" sz="3200" dirty="0"/>
              <a:t> 2.Simple and cost-effective implementation.</a:t>
            </a:r>
          </a:p>
          <a:p>
            <a:r>
              <a:rPr lang="en-US" sz="3200" dirty="0"/>
              <a:t>3.Fast performance since data is stored in the browser.</a:t>
            </a:r>
          </a:p>
          <a:p>
            <a:r>
              <a:rPr lang="en-US" sz="3200" dirty="0"/>
              <a:t>4.Easy to develop and does not a require a complex backend.</a:t>
            </a:r>
          </a:p>
          <a:p>
            <a:endParaRPr lang="en-US" sz="3200" dirty="0"/>
          </a:p>
          <a:p>
            <a:pPr marL="457200" indent="-457200">
              <a:buFont typeface="Arial" panose="020B0604020202020204" pitchFamily="34" charset="0"/>
              <a:buChar char="•"/>
            </a:pPr>
            <a:r>
              <a:rPr lang="en-US" sz="3200" b="1" dirty="0"/>
              <a:t>Limitations</a:t>
            </a:r>
          </a:p>
          <a:p>
            <a:r>
              <a:rPr lang="en-US" sz="3200" dirty="0"/>
              <a:t>1.Uses local </a:t>
            </a:r>
            <a:r>
              <a:rPr lang="en-US" sz="3200" dirty="0" err="1"/>
              <a:t>storage,so</a:t>
            </a:r>
            <a:r>
              <a:rPr lang="en-US" sz="3200" dirty="0"/>
              <a:t> data is stored only on one Device/Browser.</a:t>
            </a:r>
          </a:p>
          <a:p>
            <a:r>
              <a:rPr lang="en-US" sz="3200" dirty="0"/>
              <a:t>2.No real backend database for large-scale applications.</a:t>
            </a:r>
          </a:p>
          <a:p>
            <a:r>
              <a:rPr lang="en-US" sz="3200" dirty="0"/>
              <a:t>3.Not suitable for multi-user or large-scale applications.</a:t>
            </a:r>
          </a:p>
          <a:p>
            <a:r>
              <a:rPr lang="en-US" sz="3200" dirty="0"/>
              <a:t>4.Limited security compared to server-side storage.</a:t>
            </a:r>
          </a:p>
        </p:txBody>
      </p:sp>
    </p:spTree>
    <p:extLst>
      <p:ext uri="{BB962C8B-B14F-4D97-AF65-F5344CB8AC3E}">
        <p14:creationId xmlns:p14="http://schemas.microsoft.com/office/powerpoint/2010/main" val="183897679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sp>
        <p:nvSpPr>
          <p:cNvPr id="32" name="Freeform 32"/>
          <p:cNvSpPr/>
          <p:nvPr/>
        </p:nvSpPr>
        <p:spPr>
          <a:xfrm>
            <a:off x="16313420" y="1028700"/>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a:extLst>
                <a:ext uri="{96DAC541-7B7A-43D3-8B79-37D633B846F1}">
                  <asvg:svgBlip xmlns:asvg="http://schemas.microsoft.com/office/drawing/2016/SVG/main" r:embed="rId2"/>
                </a:ext>
              </a:extLst>
            </a:blip>
            <a:stretch>
              <a:fillRect/>
            </a:stretch>
          </a:blipFill>
        </p:spPr>
      </p:sp>
      <p:sp>
        <p:nvSpPr>
          <p:cNvPr id="43" name="TextBox 43"/>
          <p:cNvSpPr txBox="1"/>
          <p:nvPr/>
        </p:nvSpPr>
        <p:spPr>
          <a:xfrm>
            <a:off x="3200400" y="4486172"/>
            <a:ext cx="11159653" cy="1314655"/>
          </a:xfrm>
          <a:prstGeom prst="rect">
            <a:avLst/>
          </a:prstGeom>
        </p:spPr>
        <p:txBody>
          <a:bodyPr wrap="square" lIns="0" tIns="0" rIns="0" bIns="0" rtlCol="0" anchor="t">
            <a:spAutoFit/>
          </a:bodyPr>
          <a:lstStyle/>
          <a:p>
            <a:pPr algn="ctr">
              <a:lnSpc>
                <a:spcPts val="10149"/>
              </a:lnSpc>
            </a:pPr>
            <a:r>
              <a:rPr lang="en-US" sz="11153" b="1" i="1" dirty="0">
                <a:solidFill>
                  <a:srgbClr val="191919"/>
                </a:solidFill>
                <a:latin typeface="Gotham Bold Italics"/>
                <a:ea typeface="Gotham Bold Italics"/>
                <a:cs typeface="Gotham Bold Italics"/>
                <a:sym typeface="Gotham Bold Italics"/>
              </a:rPr>
              <a:t>Thank you</a:t>
            </a:r>
          </a:p>
        </p:txBody>
      </p:sp>
      <p:grpSp>
        <p:nvGrpSpPr>
          <p:cNvPr id="44" name="Group 44"/>
          <p:cNvGrpSpPr/>
          <p:nvPr/>
        </p:nvGrpSpPr>
        <p:grpSpPr>
          <a:xfrm>
            <a:off x="16786360" y="-353712"/>
            <a:ext cx="10994424" cy="10994424"/>
            <a:chOff x="0" y="0"/>
            <a:chExt cx="812800" cy="812800"/>
          </a:xfrm>
        </p:grpSpPr>
        <p:sp>
          <p:nvSpPr>
            <p:cNvPr id="45" name="Freeform 45"/>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619125" cap="sq">
              <a:solidFill>
                <a:srgbClr val="FD6220">
                  <a:alpha val="11765"/>
                </a:srgbClr>
              </a:solidFill>
              <a:prstDash val="solid"/>
              <a:miter/>
            </a:ln>
          </p:spPr>
        </p:sp>
        <p:sp>
          <p:nvSpPr>
            <p:cNvPr id="46" name="TextBox 46"/>
            <p:cNvSpPr txBox="1"/>
            <p:nvPr/>
          </p:nvSpPr>
          <p:spPr>
            <a:xfrm>
              <a:off x="76200" y="47625"/>
              <a:ext cx="660400" cy="688975"/>
            </a:xfrm>
            <a:prstGeom prst="rect">
              <a:avLst/>
            </a:prstGeom>
          </p:spPr>
          <p:txBody>
            <a:bodyPr lIns="50800" tIns="50800" rIns="50800" bIns="50800" rtlCol="0" anchor="ctr"/>
            <a:lstStyle/>
            <a:p>
              <a:pPr algn="ctr">
                <a:lnSpc>
                  <a:spcPts val="2659"/>
                </a:lnSpc>
              </a:pPr>
              <a:endParaRPr/>
            </a:p>
          </p:txBody>
        </p:sp>
      </p:gr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527</TotalTime>
  <Words>1103</Words>
  <Application>Microsoft Office PowerPoint</Application>
  <PresentationFormat>Custom</PresentationFormat>
  <Paragraphs>304</Paragraphs>
  <Slides>14</Slides>
  <Notes>1</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14</vt:i4>
      </vt:variant>
    </vt:vector>
  </HeadingPairs>
  <TitlesOfParts>
    <vt:vector size="23" baseType="lpstr">
      <vt:lpstr>Cambria</vt:lpstr>
      <vt:lpstr>Arial</vt:lpstr>
      <vt:lpstr>Gotham</vt:lpstr>
      <vt:lpstr>Gotham Bold Italics</vt:lpstr>
      <vt:lpstr>Bookman Old Style</vt:lpstr>
      <vt:lpstr>Times New Roman</vt:lpstr>
      <vt:lpstr>Wingdings</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White and Orange Simple Portfolio Presentation</dc:title>
  <dc:creator>nvaru</dc:creator>
  <cp:lastModifiedBy>nvaruntej143@gmail.com</cp:lastModifiedBy>
  <cp:revision>14</cp:revision>
  <dcterms:created xsi:type="dcterms:W3CDTF">2006-08-16T00:00:00Z</dcterms:created>
  <dcterms:modified xsi:type="dcterms:W3CDTF">2026-04-06T05:38:47Z</dcterms:modified>
  <dc:identifier>DAHCaYqJ9OU</dc:identifier>
</cp:coreProperties>
</file>